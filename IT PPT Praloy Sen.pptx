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Layouts/slideLayout13.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9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Default Extension="jpeg" ContentType="image/jpeg"/>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89.xml" ContentType="application/vnd.openxmlformats-officedocument.presentationml.slide+xml"/>
  <Override PartName="/ppt/slides/slide9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slides/slide10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336"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338" r:id="rId30"/>
    <p:sldId id="339" r:id="rId31"/>
    <p:sldId id="340" r:id="rId32"/>
    <p:sldId id="341" r:id="rId33"/>
    <p:sldId id="344" r:id="rId34"/>
    <p:sldId id="342" r:id="rId35"/>
    <p:sldId id="343" r:id="rId36"/>
    <p:sldId id="345" r:id="rId37"/>
    <p:sldId id="346" r:id="rId38"/>
    <p:sldId id="347" r:id="rId39"/>
    <p:sldId id="348" r:id="rId40"/>
    <p:sldId id="349" r:id="rId41"/>
    <p:sldId id="350" r:id="rId42"/>
    <p:sldId id="351" r:id="rId43"/>
    <p:sldId id="352" r:id="rId44"/>
    <p:sldId id="353" r:id="rId45"/>
    <p:sldId id="354" r:id="rId46"/>
    <p:sldId id="355" r:id="rId47"/>
    <p:sldId id="356" r:id="rId48"/>
    <p:sldId id="357" r:id="rId49"/>
    <p:sldId id="358" r:id="rId50"/>
    <p:sldId id="359" r:id="rId51"/>
    <p:sldId id="360" r:id="rId52"/>
    <p:sldId id="361" r:id="rId53"/>
    <p:sldId id="362" r:id="rId54"/>
    <p:sldId id="363" r:id="rId55"/>
    <p:sldId id="364" r:id="rId56"/>
    <p:sldId id="283" r:id="rId57"/>
    <p:sldId id="284" r:id="rId58"/>
    <p:sldId id="285" r:id="rId59"/>
    <p:sldId id="286" r:id="rId60"/>
    <p:sldId id="287" r:id="rId61"/>
    <p:sldId id="288" r:id="rId62"/>
    <p:sldId id="289" r:id="rId63"/>
    <p:sldId id="290" r:id="rId64"/>
    <p:sldId id="291" r:id="rId65"/>
    <p:sldId id="292" r:id="rId66"/>
    <p:sldId id="293" r:id="rId67"/>
    <p:sldId id="294" r:id="rId68"/>
    <p:sldId id="295" r:id="rId69"/>
    <p:sldId id="296" r:id="rId70"/>
    <p:sldId id="297" r:id="rId71"/>
    <p:sldId id="298" r:id="rId72"/>
    <p:sldId id="299" r:id="rId73"/>
    <p:sldId id="300" r:id="rId74"/>
    <p:sldId id="301" r:id="rId75"/>
    <p:sldId id="302" r:id="rId76"/>
    <p:sldId id="303" r:id="rId77"/>
    <p:sldId id="304" r:id="rId78"/>
    <p:sldId id="305" r:id="rId79"/>
    <p:sldId id="306" r:id="rId80"/>
    <p:sldId id="307" r:id="rId81"/>
    <p:sldId id="308" r:id="rId82"/>
    <p:sldId id="309" r:id="rId83"/>
    <p:sldId id="310" r:id="rId84"/>
    <p:sldId id="311" r:id="rId85"/>
    <p:sldId id="312" r:id="rId86"/>
    <p:sldId id="313" r:id="rId87"/>
    <p:sldId id="314" r:id="rId88"/>
    <p:sldId id="315" r:id="rId89"/>
    <p:sldId id="316" r:id="rId90"/>
    <p:sldId id="317" r:id="rId91"/>
    <p:sldId id="318" r:id="rId92"/>
    <p:sldId id="319" r:id="rId93"/>
    <p:sldId id="320" r:id="rId94"/>
    <p:sldId id="321" r:id="rId95"/>
    <p:sldId id="322" r:id="rId96"/>
    <p:sldId id="323" r:id="rId97"/>
    <p:sldId id="324" r:id="rId98"/>
    <p:sldId id="325" r:id="rId99"/>
    <p:sldId id="326" r:id="rId100"/>
    <p:sldId id="327" r:id="rId101"/>
    <p:sldId id="328" r:id="rId102"/>
    <p:sldId id="329" r:id="rId103"/>
    <p:sldId id="330" r:id="rId104"/>
    <p:sldId id="331" r:id="rId105"/>
    <p:sldId id="332" r:id="rId106"/>
    <p:sldId id="333" r:id="rId107"/>
    <p:sldId id="337" r:id="rId10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909683-AC36-454F-8BE0-F61A7C6E4253}" v="1" dt="2026-04-30T12:37:12.3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1" d="100"/>
          <a:sy n="61" d="100"/>
        </p:scale>
        <p:origin x="-168"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dirty="0"/>
              <a:t>Click to edit Master title style</a:t>
            </a:r>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pPr/>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568719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p:cNvSpPr>
            <a:spLocks noGrp="1"/>
          </p:cNvSpPr>
          <p:nvPr>
            <p:ph type="dt" sz="half" idx="10"/>
          </p:nvPr>
        </p:nvSpPr>
        <p:spPr/>
        <p:txBody>
          <a:bodyPr/>
          <a:lstStyle/>
          <a:p>
            <a:fld id="{4509A250-FF31-4206-8172-F9D3106AACB1}" type="datetimeFigureOut">
              <a:rPr lang="en-US" dirty="0"/>
              <a:pPr/>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887095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pPr/>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2196011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796027F-7875-4030-9381-8BD8C4F21935}" type="datetimeFigureOut">
              <a:rPr lang="en-US" dirty="0"/>
              <a:pPr/>
              <a:t>5/5/2026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3986641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796027F-7875-4030-9381-8BD8C4F21935}" type="datetimeFigureOut">
              <a:rPr lang="en-US" dirty="0"/>
              <a:pPr/>
              <a:t>5/5/2026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2618517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pPr/>
              <a:t>5/5/2026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2379967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pPr/>
              <a:t>5/5/2026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4105863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dirty="0"/>
              <a:t>Click to edit Master title style</a:t>
            </a:r>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pPr/>
              <a:t>5/5/2026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126470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dirty="0"/>
              <a:t>Click to edit Master title style</a:t>
            </a:r>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pPr/>
              <a:t>5/5/2026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1578939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pPr/>
              <a:t>5/5/2026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3445720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dirty="0"/>
              <a:t>Click to edit Master title style</a:t>
            </a:r>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pPr/>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17033213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dirty="0"/>
              <a:t>Click to edit Master title style</a:t>
            </a:r>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dirty="0"/>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pPr/>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 xmlns:p14="http://schemas.microsoft.com/office/powerpoint/2010/main" val="3374492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pPr/>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72865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pPr/>
              <a:t>5/5/2026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27320854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pPr/>
              <a:t>5/5/2026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35581913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pPr/>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40989802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dirty="0"/>
              <a:t>Click to edit Master title style</a:t>
            </a:r>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pPr/>
              <a:t>5/5/2026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1867873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pPr/>
              <a:t>5/5/2026</a:t>
            </a:fld>
            <a:endParaRPr lang="en-US" dirty="0"/>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D57F1E4F-1CFF-5643-939E-02111984F565}" type="slidenum">
              <a:rPr lang="en-US" dirty="0"/>
              <a:pPr/>
              <a:t>‹#›</a:t>
            </a:fld>
            <a:endParaRPr lang="en-US" dirty="0"/>
          </a:p>
        </p:txBody>
      </p:sp>
    </p:spTree>
    <p:extLst>
      <p:ext uri="{BB962C8B-B14F-4D97-AF65-F5344CB8AC3E}">
        <p14:creationId xmlns="" xmlns:p14="http://schemas.microsoft.com/office/powerpoint/2010/main" val="2092887686"/>
      </p:ext>
    </p:extLst>
  </p:cSld>
  <p:clrMap bg1="dk1" tx1="lt1" bg2="dk2" tx2="lt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Lst>
  <p:hf sldNum="0" hdr="0" ftr="0" dt="0"/>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sz="6000" dirty="0">
                <a:solidFill>
                  <a:schemeClr val="bg1"/>
                </a:solidFill>
              </a:rPr>
              <a:t>Information</a:t>
            </a:r>
            <a:r>
              <a:rPr lang="en-US" dirty="0">
                <a:solidFill>
                  <a:schemeClr val="bg1"/>
                </a:solidFill>
              </a:rPr>
              <a:t> Technology</a:t>
            </a:r>
            <a:endParaRPr lang="en-US" dirty="0"/>
          </a:p>
        </p:txBody>
      </p:sp>
      <p:sp>
        <p:nvSpPr>
          <p:cNvPr id="5" name="Subtitle 4"/>
          <p:cNvSpPr>
            <a:spLocks noGrp="1"/>
          </p:cNvSpPr>
          <p:nvPr>
            <p:ph type="subTitle" idx="1"/>
          </p:nvPr>
        </p:nvSpPr>
        <p:spPr/>
        <p:txBody>
          <a:bodyPr/>
          <a:lstStyle/>
          <a:p>
            <a:r>
              <a:rPr lang="en-US" sz="2800">
                <a:solidFill>
                  <a:schemeClr val="tx2">
                    <a:lumMod val="60000"/>
                    <a:lumOff val="40000"/>
                  </a:schemeClr>
                </a:solidFill>
              </a:rPr>
              <a:t>The </a:t>
            </a:r>
            <a:r>
              <a:rPr lang="en-US" sz="2800" b="1">
                <a:solidFill>
                  <a:schemeClr val="tx2">
                    <a:lumMod val="60000"/>
                    <a:lumOff val="40000"/>
                  </a:schemeClr>
                </a:solidFill>
              </a:rPr>
              <a:t>Digital</a:t>
            </a:r>
            <a:r>
              <a:rPr lang="en-US" sz="2800">
                <a:solidFill>
                  <a:schemeClr val="tx2">
                    <a:lumMod val="60000"/>
                    <a:lumOff val="40000"/>
                  </a:schemeClr>
                </a:solidFill>
              </a:rPr>
              <a:t> Backbone</a:t>
            </a:r>
          </a:p>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Agenda For Information Technology</a:t>
            </a:r>
            <a:endParaRPr lang="en-US" b="1" dirty="0">
              <a:effectLst>
                <a:outerShdw blurRad="38100" dist="38100" dir="2700000" algn="tl">
                  <a:srgbClr val="000000">
                    <a:alpha val="43137"/>
                  </a:srgbClr>
                </a:outerShdw>
              </a:effectLst>
            </a:endParaRPr>
          </a:p>
        </p:txBody>
      </p:sp>
      <p:sp>
        <p:nvSpPr>
          <p:cNvPr id="8" name="Content Placeholder 7"/>
          <p:cNvSpPr>
            <a:spLocks noGrp="1"/>
          </p:cNvSpPr>
          <p:nvPr>
            <p:ph idx="1"/>
          </p:nvPr>
        </p:nvSpPr>
        <p:spPr>
          <a:xfrm>
            <a:off x="714348" y="2428868"/>
            <a:ext cx="6825006" cy="4143404"/>
          </a:xfrm>
        </p:spPr>
        <p:txBody>
          <a:bodyPr/>
          <a:lstStyle/>
          <a:p>
            <a:r>
              <a:rPr lang="en-US" dirty="0" smtClean="0"/>
              <a:t>What is Information Technology (IT)?</a:t>
            </a:r>
          </a:p>
          <a:p>
            <a:r>
              <a:rPr lang="en-US" dirty="0" smtClean="0"/>
              <a:t>Why IT is Crucial for Modern Business</a:t>
            </a:r>
          </a:p>
          <a:p>
            <a:r>
              <a:rPr lang="en-US" dirty="0" smtClean="0"/>
              <a:t>Core Components: Hardware vs. Software</a:t>
            </a:r>
          </a:p>
          <a:p>
            <a:r>
              <a:rPr lang="en-US" dirty="0" smtClean="0"/>
              <a:t>Key IT Functions in an Organization</a:t>
            </a:r>
          </a:p>
          <a:p>
            <a:r>
              <a:rPr lang="en-US" dirty="0" smtClean="0"/>
              <a:t>The Symbiosis of IT and Business Strategy</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effectLst>
                  <a:outerShdw blurRad="38100" dist="38100" dir="2700000" algn="tl">
                    <a:srgbClr val="000000">
                      <a:alpha val="43137"/>
                    </a:srgbClr>
                  </a:outerShdw>
                </a:effectLst>
              </a:rPr>
              <a:t>What is Information Technology (IT)?</a:t>
            </a:r>
          </a:p>
        </p:txBody>
      </p:sp>
      <p:sp>
        <p:nvSpPr>
          <p:cNvPr id="3" name="Content Placeholder 2"/>
          <p:cNvSpPr>
            <a:spLocks noGrp="1"/>
          </p:cNvSpPr>
          <p:nvPr>
            <p:ph idx="1"/>
          </p:nvPr>
        </p:nvSpPr>
        <p:spPr/>
        <p:txBody>
          <a:bodyPr/>
          <a:lstStyle/>
          <a:p>
            <a:r>
              <a:rPr lang="en-US" b="1" dirty="0" smtClean="0"/>
              <a:t>Definition:</a:t>
            </a:r>
            <a:r>
              <a:rPr lang="en-US" dirty="0" smtClean="0"/>
              <a:t> The use of computers, software, networks, and other digital devices to store, process, protect, and transmit data for an organization.</a:t>
            </a:r>
          </a:p>
          <a:p>
            <a:r>
              <a:rPr lang="en-US" b="1" dirty="0" smtClean="0"/>
              <a:t>Simple View:</a:t>
            </a:r>
            <a:r>
              <a:rPr lang="en-US" dirty="0" smtClean="0"/>
              <a:t> Anything an organization uses an endpoint device (computer, phone, server) for can be classified as IT.</a:t>
            </a:r>
          </a:p>
          <a:p>
            <a:r>
              <a:rPr lang="en-US" b="1" dirty="0" smtClean="0"/>
              <a:t>Core Purpose:</a:t>
            </a:r>
            <a:r>
              <a:rPr lang="en-US" dirty="0" smtClean="0"/>
              <a:t> To build organizational infrastructure and enable digital communication.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Why is IT </a:t>
            </a:r>
            <a:r>
              <a:rPr lang="en-US" b="1" dirty="0" smtClean="0">
                <a:effectLst>
                  <a:outerShdw blurRad="38100" dist="38100" dir="2700000" algn="tl">
                    <a:srgbClr val="000000">
                      <a:alpha val="43137"/>
                    </a:srgbClr>
                  </a:outerShdw>
                </a:effectLst>
              </a:rPr>
              <a:t>Important for business? </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Improves Efficiency &amp; Productivity:</a:t>
            </a:r>
            <a:r>
              <a:rPr lang="en-US" dirty="0" smtClean="0"/>
              <a:t> Automates routine tasks, streamlines workflows, reduces manual errors.</a:t>
            </a:r>
          </a:p>
          <a:p>
            <a:r>
              <a:rPr lang="en-US" b="1" dirty="0" smtClean="0"/>
              <a:t>Enhances Communication:</a:t>
            </a:r>
            <a:r>
              <a:rPr lang="en-US" dirty="0" smtClean="0"/>
              <a:t> Enables seamless collaboration via email, instant messaging, and video conferencing regardless of location.</a:t>
            </a:r>
          </a:p>
          <a:p>
            <a:r>
              <a:rPr lang="en-US" b="1" dirty="0" smtClean="0"/>
              <a:t>Drives Innovation:</a:t>
            </a:r>
            <a:r>
              <a:rPr lang="en-US" dirty="0" smtClean="0"/>
              <a:t> Provides tools to explore emerging tech like AI and </a:t>
            </a:r>
            <a:r>
              <a:rPr lang="en-US" dirty="0" err="1" smtClean="0"/>
              <a:t>blockchain</a:t>
            </a:r>
            <a:r>
              <a:rPr lang="en-US" dirty="0" smtClean="0"/>
              <a:t>, creating new products and services.</a:t>
            </a:r>
          </a:p>
          <a:p>
            <a:r>
              <a:rPr lang="en-US" b="1" dirty="0" smtClean="0"/>
              <a:t>Enables Data-Driven Decisions:</a:t>
            </a:r>
            <a:r>
              <a:rPr lang="en-US" dirty="0" smtClean="0"/>
              <a:t> Facilitates powerful data collection, storage, and analysis.</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 The Role of IT in Strategic Planning</a:t>
            </a:r>
            <a:br>
              <a:rPr lang="en-US" b="1" dirty="0" smtClean="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IT is no longer just a support function; it's a strategic partner.</a:t>
            </a:r>
          </a:p>
          <a:p>
            <a:r>
              <a:rPr lang="en-US" b="1" dirty="0" smtClean="0"/>
              <a:t>Digital Transformation:</a:t>
            </a:r>
            <a:r>
              <a:rPr lang="en-US" dirty="0" smtClean="0"/>
              <a:t> The process of integrating technology into all areas of a business, fundamentally changing how it operates and delivers value.</a:t>
            </a:r>
          </a:p>
          <a:p>
            <a:r>
              <a:rPr lang="en-US" dirty="0" smtClean="0"/>
              <a:t>Without strong IT, digital transformation is haphazard and disorganized.</a:t>
            </a:r>
          </a:p>
          <a:p>
            <a:r>
              <a:rPr lang="en-US" dirty="0" smtClean="0"/>
              <a:t>IT professionals set up protocols to manage and monitor these complex environments successfully.</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Core IT Components: Hardware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Definition:</a:t>
            </a:r>
            <a:r>
              <a:rPr lang="en-US" dirty="0" smtClean="0"/>
              <a:t> The physical, tangible components of a computer system.</a:t>
            </a:r>
          </a:p>
          <a:p>
            <a:r>
              <a:rPr lang="en-US" b="1" dirty="0" smtClean="0"/>
              <a:t>Examples:</a:t>
            </a:r>
            <a:endParaRPr lang="en-US" dirty="0" smtClean="0"/>
          </a:p>
          <a:p>
            <a:pPr lvl="1"/>
            <a:r>
              <a:rPr lang="en-US" b="1" dirty="0" smtClean="0"/>
              <a:t>Central Processing Unit (CPU)</a:t>
            </a:r>
            <a:r>
              <a:rPr lang="en-US" dirty="0" smtClean="0"/>
              <a:t> : The "brain" that processes instructions.</a:t>
            </a:r>
          </a:p>
          <a:p>
            <a:pPr lvl="1"/>
            <a:r>
              <a:rPr lang="en-US" b="1" dirty="0" smtClean="0"/>
              <a:t>Hard Drive:</a:t>
            </a:r>
            <a:r>
              <a:rPr lang="en-US" dirty="0" smtClean="0"/>
              <a:t> Provides long-term data storage for the OS and applications.</a:t>
            </a:r>
          </a:p>
          <a:p>
            <a:pPr lvl="1"/>
            <a:r>
              <a:rPr lang="en-US" b="1" dirty="0" smtClean="0"/>
              <a:t>Random Access Memory (RAM)</a:t>
            </a:r>
            <a:r>
              <a:rPr lang="en-US" dirty="0" smtClean="0"/>
              <a:t> : Temporary, high-speed storage for active tasks.</a:t>
            </a:r>
          </a:p>
          <a:p>
            <a:pPr lvl="1"/>
            <a:r>
              <a:rPr lang="en-US" b="1" dirty="0" smtClean="0"/>
              <a:t>Motherboard:</a:t>
            </a:r>
            <a:r>
              <a:rPr lang="en-US" dirty="0" smtClean="0"/>
              <a:t> The main circuit board connecting all components.</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Core IT Components: Software</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Definition:</a:t>
            </a:r>
            <a:r>
              <a:rPr lang="en-US" dirty="0" smtClean="0"/>
              <a:t> The programs and instructions that tell the hardware what to do.</a:t>
            </a:r>
          </a:p>
          <a:p>
            <a:r>
              <a:rPr lang="en-US" b="1" dirty="0" smtClean="0"/>
              <a:t>Examples:</a:t>
            </a:r>
            <a:endParaRPr lang="en-US" dirty="0" smtClean="0"/>
          </a:p>
          <a:p>
            <a:pPr lvl="1"/>
            <a:r>
              <a:rPr lang="en-US" b="1" dirty="0" smtClean="0"/>
              <a:t>System Software:</a:t>
            </a:r>
            <a:r>
              <a:rPr lang="en-US" dirty="0" smtClean="0"/>
              <a:t> The operating system (e.g., Windows, </a:t>
            </a:r>
            <a:r>
              <a:rPr lang="en-US" dirty="0" err="1" smtClean="0"/>
              <a:t>macOS</a:t>
            </a:r>
            <a:r>
              <a:rPr lang="en-US" dirty="0" smtClean="0"/>
              <a:t>) that manages hardware.</a:t>
            </a:r>
          </a:p>
          <a:p>
            <a:pPr lvl="1"/>
            <a:r>
              <a:rPr lang="en-US" b="1" dirty="0" smtClean="0"/>
              <a:t>Application Software:</a:t>
            </a:r>
            <a:r>
              <a:rPr lang="en-US" dirty="0" smtClean="0"/>
              <a:t> Programs for end-users (e.g., web browsers, MS Office).</a:t>
            </a:r>
          </a:p>
          <a:p>
            <a:pPr lvl="1"/>
            <a:r>
              <a:rPr lang="en-US" b="1" dirty="0" smtClean="0"/>
              <a:t>Utility Software:</a:t>
            </a:r>
            <a:r>
              <a:rPr lang="en-US" dirty="0" smtClean="0"/>
              <a:t> Background tools for security (anti-virus), optimization, and disk cleanup.</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Core IT Function #1: IT Governance</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Aligning IT goals and strategy with overall business objectives.</a:t>
            </a:r>
          </a:p>
          <a:p>
            <a:r>
              <a:rPr lang="en-US" b="1" dirty="0" smtClean="0"/>
              <a:t>Key Activities:</a:t>
            </a:r>
            <a:endParaRPr lang="en-US" dirty="0" smtClean="0"/>
          </a:p>
          <a:p>
            <a:pPr lvl="1"/>
            <a:r>
              <a:rPr lang="en-US" dirty="0" smtClean="0"/>
              <a:t>Careful budgeting and resource allocation for IT projects.</a:t>
            </a:r>
          </a:p>
          <a:p>
            <a:pPr lvl="1"/>
            <a:r>
              <a:rPr lang="en-US" dirty="0" smtClean="0"/>
              <a:t>Managing and mitigating technology-related risks.</a:t>
            </a:r>
          </a:p>
          <a:p>
            <a:pPr lvl="1"/>
            <a:r>
              <a:rPr lang="en-US" dirty="0" smtClean="0"/>
              <a:t>Ensuring compliance with internal and external standards.</a:t>
            </a:r>
          </a:p>
          <a:p>
            <a:pPr lvl="1"/>
            <a:r>
              <a:rPr lang="en-US" dirty="0" smtClean="0"/>
              <a:t>Ensuring IT decisions add value to the business.</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Core IT Function #2: IT Operations (ITOM)</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a:buFont typeface="Arial"/>
              <a:buChar char="•"/>
            </a:pPr>
            <a:r>
              <a:rPr lang="en-US" dirty="0" smtClean="0">
                <a:latin typeface="quote-cjk-patch"/>
              </a:rPr>
              <a:t>Focuses on the daily, routine management of IT infrastructure.</a:t>
            </a:r>
          </a:p>
          <a:p>
            <a:pPr>
              <a:buFont typeface="Arial"/>
              <a:buChar char="•"/>
            </a:pPr>
            <a:r>
              <a:rPr lang="en-US" dirty="0" smtClean="0">
                <a:latin typeface="quote-cjk-patch"/>
              </a:rPr>
              <a:t>Often automated using IT Operations Management (ITOM) solutions.</a:t>
            </a:r>
          </a:p>
          <a:p>
            <a:pPr>
              <a:buFont typeface="Arial"/>
              <a:buChar char="•"/>
            </a:pPr>
            <a:r>
              <a:rPr lang="en-US" b="1" dirty="0" smtClean="0">
                <a:latin typeface="quote-cjk-patch"/>
              </a:rPr>
              <a:t>Key Activities:</a:t>
            </a:r>
            <a:endParaRPr lang="en-US" dirty="0" smtClean="0">
              <a:latin typeface="quote-cjk-patch"/>
            </a:endParaRPr>
          </a:p>
          <a:p>
            <a:pPr marL="742950" lvl="1" indent="-285750">
              <a:buFont typeface="Arial"/>
              <a:buChar char="•"/>
            </a:pPr>
            <a:r>
              <a:rPr lang="en-US" dirty="0" smtClean="0">
                <a:latin typeface="quote-cjk-patch"/>
              </a:rPr>
              <a:t>Monitoring endpoints and the network for problems.</a:t>
            </a:r>
          </a:p>
          <a:p>
            <a:pPr marL="742950" lvl="1" indent="-285750">
              <a:buFont typeface="Arial"/>
              <a:buChar char="•"/>
            </a:pPr>
            <a:r>
              <a:rPr lang="en-US" dirty="0" smtClean="0">
                <a:latin typeface="quote-cjk-patch"/>
              </a:rPr>
              <a:t>Tracking and resolving incidents and events.</a:t>
            </a:r>
          </a:p>
          <a:p>
            <a:pPr marL="742950" lvl="1" indent="-285750">
              <a:buFont typeface="Arial"/>
              <a:buChar char="•"/>
            </a:pPr>
            <a:r>
              <a:rPr lang="en-US" dirty="0" smtClean="0">
                <a:latin typeface="quote-cjk-patch"/>
              </a:rPr>
              <a:t>Deploying patches and software updates.</a:t>
            </a:r>
          </a:p>
          <a:p>
            <a:pPr marL="742950" lvl="1" indent="-285750">
              <a:buFont typeface="Arial"/>
              <a:buChar char="•"/>
            </a:pPr>
            <a:r>
              <a:rPr lang="en-US" dirty="0" smtClean="0">
                <a:latin typeface="quote-cjk-patch"/>
              </a:rPr>
              <a:t>Providing remote support to users</a:t>
            </a:r>
            <a:r>
              <a:rPr lang="en-US" dirty="0" smtClean="0">
                <a:solidFill>
                  <a:srgbClr val="0F1115"/>
                </a:solidFill>
                <a:latin typeface="quote-cjk-patch"/>
              </a:rPr>
              <a:t>.</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57166"/>
            <a:ext cx="9144000" cy="1190332"/>
          </a:xfrm>
        </p:spPr>
        <p:txBody>
          <a:bodyPr/>
          <a:lstStyle/>
          <a:p>
            <a:pPr algn="ctr"/>
            <a:r>
              <a:rPr lang="en-US" b="1" dirty="0" smtClean="0"/>
              <a:t>Core IT Function #3: </a:t>
            </a:r>
            <a:br>
              <a:rPr lang="en-US" b="1" dirty="0" smtClean="0"/>
            </a:br>
            <a:r>
              <a:rPr lang="en-US" b="1" dirty="0" smtClean="0">
                <a:effectLst>
                  <a:outerShdw blurRad="38100" dist="38100" dir="2700000" algn="tl">
                    <a:srgbClr val="000000">
                      <a:alpha val="43137"/>
                    </a:srgbClr>
                  </a:outerShdw>
                </a:effectLst>
              </a:rPr>
              <a:t> </a:t>
            </a:r>
            <a:r>
              <a:rPr lang="en-US" b="1" dirty="0" err="1" smtClean="0">
                <a:effectLst>
                  <a:outerShdw blurRad="38100" dist="38100" dir="2700000" algn="tl">
                    <a:srgbClr val="000000">
                      <a:alpha val="43137"/>
                    </a:srgbClr>
                  </a:outerShdw>
                </a:effectLst>
              </a:rPr>
              <a:t>Cybersecurity</a:t>
            </a:r>
            <a:r>
              <a:rPr lang="en-US" b="1" dirty="0" smtClean="0">
                <a:effectLst>
                  <a:outerShdw blurRad="38100" dist="38100" dir="2700000" algn="tl">
                    <a:srgbClr val="000000">
                      <a:alpha val="43137"/>
                    </a:srgbClr>
                  </a:outerShdw>
                </a:effectLst>
              </a:rPr>
              <a:t> &amp; Data Management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57224" y="2357430"/>
            <a:ext cx="6711654" cy="4195481"/>
          </a:xfrm>
        </p:spPr>
        <p:txBody>
          <a:bodyPr/>
          <a:lstStyle/>
          <a:p>
            <a:r>
              <a:rPr lang="en-US" b="1" dirty="0" smtClean="0"/>
              <a:t>Purpose:</a:t>
            </a:r>
            <a:r>
              <a:rPr lang="en-US" dirty="0" smtClean="0"/>
              <a:t> Protecting the organization’s data and network from threats (malware, phishing, </a:t>
            </a:r>
            <a:r>
              <a:rPr lang="en-US" dirty="0" err="1" smtClean="0"/>
              <a:t>ransomware</a:t>
            </a:r>
            <a:r>
              <a:rPr lang="en-US" dirty="0" smtClean="0"/>
              <a:t>).</a:t>
            </a:r>
          </a:p>
          <a:p>
            <a:r>
              <a:rPr lang="en-US" b="1" dirty="0" smtClean="0"/>
              <a:t>Key Aspects:</a:t>
            </a:r>
            <a:endParaRPr lang="en-US" dirty="0" smtClean="0"/>
          </a:p>
          <a:p>
            <a:pPr lvl="1"/>
            <a:r>
              <a:rPr lang="en-US" b="1" dirty="0" smtClean="0"/>
              <a:t>Data Security:</a:t>
            </a:r>
            <a:r>
              <a:rPr lang="en-US" dirty="0" smtClean="0"/>
              <a:t> Using firewalls, encryption, access controls, and strong credentials.</a:t>
            </a:r>
          </a:p>
          <a:p>
            <a:pPr lvl="1"/>
            <a:r>
              <a:rPr lang="en-US" b="1" dirty="0" smtClean="0"/>
              <a:t>Database Management (DBMS):</a:t>
            </a:r>
            <a:r>
              <a:rPr lang="en-US" dirty="0" smtClean="0"/>
              <a:t> Provides visibility and control over stored data.</a:t>
            </a:r>
          </a:p>
          <a:p>
            <a:pPr lvl="1"/>
            <a:r>
              <a:rPr lang="en-US" b="1" dirty="0" smtClean="0"/>
              <a:t>Principle of Least Privilege:</a:t>
            </a:r>
            <a:r>
              <a:rPr lang="en-US" dirty="0" smtClean="0"/>
              <a:t> Giving users only the access they absolutely need to do their jobs.</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Core IT Function #4: Data Backup &amp; Recovery</a:t>
            </a:r>
            <a:endParaRPr lang="en-US" b="1" dirty="0"/>
          </a:p>
        </p:txBody>
      </p:sp>
      <p:sp>
        <p:nvSpPr>
          <p:cNvPr id="3" name="Content Placeholder 2"/>
          <p:cNvSpPr>
            <a:spLocks noGrp="1"/>
          </p:cNvSpPr>
          <p:nvPr>
            <p:ph idx="1"/>
          </p:nvPr>
        </p:nvSpPr>
        <p:spPr/>
        <p:txBody>
          <a:bodyPr/>
          <a:lstStyle/>
          <a:p>
            <a:r>
              <a:rPr lang="en-US" dirty="0" smtClean="0"/>
              <a:t>Critical for disaster recovery and protection against </a:t>
            </a:r>
            <a:r>
              <a:rPr lang="en-US" dirty="0" err="1" smtClean="0"/>
              <a:t>ransomware</a:t>
            </a:r>
            <a:r>
              <a:rPr lang="en-US" dirty="0" smtClean="0"/>
              <a:t> or hardware failure.</a:t>
            </a:r>
          </a:p>
          <a:p>
            <a:r>
              <a:rPr lang="en-US" b="1" dirty="0" smtClean="0"/>
              <a:t>Key Concepts:</a:t>
            </a:r>
            <a:endParaRPr lang="en-US" dirty="0" smtClean="0"/>
          </a:p>
          <a:p>
            <a:pPr lvl="1"/>
            <a:r>
              <a:rPr lang="en-US" dirty="0" smtClean="0"/>
              <a:t>Regular, scheduled backups are essential.</a:t>
            </a:r>
          </a:p>
          <a:p>
            <a:pPr lvl="1"/>
            <a:r>
              <a:rPr lang="en-US" dirty="0" smtClean="0"/>
              <a:t>The 3-2-1 rule: Keep at least </a:t>
            </a:r>
            <a:r>
              <a:rPr lang="en-US" b="1" dirty="0" smtClean="0"/>
              <a:t>3</a:t>
            </a:r>
            <a:r>
              <a:rPr lang="en-US" dirty="0" smtClean="0"/>
              <a:t> copies of data, on </a:t>
            </a:r>
            <a:r>
              <a:rPr lang="en-US" b="1" dirty="0" smtClean="0"/>
              <a:t>2</a:t>
            </a:r>
            <a:r>
              <a:rPr lang="en-US" dirty="0" smtClean="0"/>
              <a:t> different media types, with </a:t>
            </a:r>
            <a:r>
              <a:rPr lang="en-US" b="1" dirty="0" smtClean="0"/>
              <a:t>1</a:t>
            </a:r>
            <a:r>
              <a:rPr lang="en-US" dirty="0" smtClean="0"/>
              <a:t> copy off-site.</a:t>
            </a:r>
          </a:p>
          <a:p>
            <a:pPr lvl="1"/>
            <a:r>
              <a:rPr lang="en-US" dirty="0" smtClean="0"/>
              <a:t>Backup types: Cloud-based, local, or a hybrid model.</a:t>
            </a:r>
          </a:p>
          <a:p>
            <a:pPr lvl="1"/>
            <a:r>
              <a:rPr lang="en-US" dirty="0" smtClean="0"/>
              <a:t>Backups must be tested to ensure the data is usable.</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The Link Between Business &amp; IT Strategy</a:t>
            </a:r>
            <a:br>
              <a:rPr lang="en-US" b="1" dirty="0" smtClean="0">
                <a:effectLst>
                  <a:outerShdw blurRad="38100" dist="38100" dir="2700000" algn="tl">
                    <a:srgbClr val="000000">
                      <a:alpha val="43137"/>
                    </a:srgbClr>
                  </a:outerShdw>
                </a:effectLst>
              </a:rPr>
            </a:br>
            <a:r>
              <a:rPr lang="en-US" b="1" dirty="0" smtClean="0">
                <a:effectLst>
                  <a:outerShdw blurRad="38100" dist="38100" dir="2700000" algn="tl">
                    <a:srgbClr val="000000">
                      <a:alpha val="43137"/>
                    </a:srgbClr>
                  </a:outerShdw>
                </a:effectLst>
              </a:rPr>
              <a:t/>
            </a:r>
            <a:br>
              <a:rPr lang="en-US" b="1" dirty="0" smtClean="0">
                <a:effectLst>
                  <a:outerShdw blurRad="38100" dist="38100" dir="2700000" algn="tl">
                    <a:srgbClr val="000000">
                      <a:alpha val="43137"/>
                    </a:srgbClr>
                  </a:outerShdw>
                </a:effectLst>
              </a:rPr>
            </a:b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Misalignment:</a:t>
            </a:r>
            <a:r>
              <a:rPr lang="en-US" dirty="0" smtClean="0"/>
              <a:t> A common cause of business failure. IT projects do not support business goals.</a:t>
            </a:r>
          </a:p>
          <a:p>
            <a:r>
              <a:rPr lang="en-US" b="1" dirty="0" smtClean="0"/>
              <a:t>Alignment:</a:t>
            </a:r>
            <a:r>
              <a:rPr lang="en-US" dirty="0" smtClean="0"/>
              <a:t> When business and IT strategies are coordinated, the organization can adapt quickly, seize opportunities, and gain a competitive advantage.</a:t>
            </a:r>
          </a:p>
          <a:p>
            <a:r>
              <a:rPr lang="en-US" b="1" dirty="0" smtClean="0"/>
              <a:t>Goal:</a:t>
            </a:r>
            <a:r>
              <a:rPr lang="en-US" dirty="0" smtClean="0"/>
              <a:t> To create a dynamic capability where IT is a driver, not a barrier, to business success.</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effectLst>
                  <a:outerShdw blurRad="38100" dist="38100" dir="2700000" algn="tl">
                    <a:srgbClr val="000000">
                      <a:alpha val="43137"/>
                    </a:srgbClr>
                  </a:outerShdw>
                </a:effectLst>
              </a:rPr>
              <a:t>Data Types, Sources, and Lifecycle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type="subTitle" idx="1"/>
          </p:nvPr>
        </p:nvSpPr>
        <p:spPr/>
        <p:txBody>
          <a:bodyPr>
            <a:normAutofit fontScale="70000" lnSpcReduction="20000"/>
          </a:bodyPr>
          <a:lstStyle/>
          <a:p>
            <a:pPr algn="ctr">
              <a:buNone/>
            </a:pPr>
            <a:endParaRPr lang="en-US" b="1" dirty="0" smtClean="0">
              <a:effectLst>
                <a:outerShdw blurRad="38100" dist="38100" dir="2700000" algn="tl">
                  <a:srgbClr val="000000">
                    <a:alpha val="43137"/>
                  </a:srgbClr>
                </a:outerShdw>
              </a:effectLst>
            </a:endParaRPr>
          </a:p>
          <a:p>
            <a:pPr>
              <a:buNone/>
            </a:pPr>
            <a:r>
              <a:rPr lang="en-US" dirty="0" smtClean="0"/>
              <a:t>Understanding Data</a:t>
            </a:r>
          </a:p>
          <a:p>
            <a:pPr>
              <a:buNone/>
            </a:pPr>
            <a:r>
              <a:rPr lang="en-US" dirty="0" smtClean="0"/>
              <a:t> Types, Sources, and the Complete Data Lifecycle</a:t>
            </a:r>
            <a:endParaRPr lang="en-US" dirty="0"/>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Data Types, Sources, and Lifecycle Agenda </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The Three Types of Data: Structured, Semi-structured, Unstructured</a:t>
            </a:r>
          </a:p>
          <a:p>
            <a:r>
              <a:rPr lang="en-US" dirty="0" smtClean="0"/>
              <a:t>Internal vs. External Data Sources</a:t>
            </a:r>
          </a:p>
          <a:p>
            <a:r>
              <a:rPr lang="en-US" dirty="0" smtClean="0"/>
              <a:t>What is Data Collection?</a:t>
            </a:r>
          </a:p>
          <a:p>
            <a:r>
              <a:rPr lang="en-US" dirty="0" smtClean="0"/>
              <a:t>The 8 Stages of the Data Lifecycle Management (DLM)</a:t>
            </a:r>
          </a:p>
          <a:p>
            <a:r>
              <a:rPr lang="en-US" dirty="0" smtClean="0"/>
              <a:t>Data Integrity vs. Data Quality</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Data Type #1: Structured Data</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Definition:</a:t>
            </a:r>
            <a:r>
              <a:rPr lang="en-US" dirty="0" smtClean="0"/>
              <a:t> Data that is highly organized and follows a predefined schema or model.</a:t>
            </a:r>
          </a:p>
          <a:p>
            <a:r>
              <a:rPr lang="en-US" b="1" dirty="0" smtClean="0"/>
              <a:t>Format:</a:t>
            </a:r>
            <a:r>
              <a:rPr lang="en-US" dirty="0" smtClean="0"/>
              <a:t> Rows and columns in a relational database (tables).</a:t>
            </a:r>
          </a:p>
          <a:p>
            <a:r>
              <a:rPr lang="en-US" b="1" dirty="0" smtClean="0"/>
              <a:t>Examples:</a:t>
            </a:r>
            <a:r>
              <a:rPr lang="en-US" dirty="0" smtClean="0"/>
              <a:t> Excel spreadsheets, SQL databases (e.g., sales records, customer names in a CRM).</a:t>
            </a:r>
          </a:p>
          <a:p>
            <a:r>
              <a:rPr lang="en-US" b="1" dirty="0" smtClean="0"/>
              <a:t>Pros:</a:t>
            </a:r>
            <a:r>
              <a:rPr lang="en-US" dirty="0" smtClean="0"/>
              <a:t> Easy to search, analyze, and process by machines.</a:t>
            </a:r>
          </a:p>
          <a:p>
            <a:r>
              <a:rPr lang="en-US" b="1" dirty="0" smtClean="0"/>
              <a:t>Cons:</a:t>
            </a:r>
            <a:r>
              <a:rPr lang="en-US" dirty="0" smtClean="0"/>
              <a:t> Not flexible; requires a fixed format.</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Data Type #2: Unstructured Data</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Definition:</a:t>
            </a:r>
            <a:r>
              <a:rPr lang="en-US" dirty="0" smtClean="0"/>
              <a:t> Data that has no predefined organizational model or format. It's often text-heavy or contains non-textual elements.</a:t>
            </a:r>
          </a:p>
          <a:p>
            <a:r>
              <a:rPr lang="en-US" b="1" dirty="0" smtClean="0"/>
              <a:t>Examples:</a:t>
            </a:r>
            <a:r>
              <a:rPr lang="en-US" dirty="0" smtClean="0"/>
              <a:t> Images, audio files, video files, social media posts, PDF documents, email bodies.</a:t>
            </a:r>
          </a:p>
          <a:p>
            <a:r>
              <a:rPr lang="en-US" b="1" dirty="0" smtClean="0"/>
              <a:t>Pros:</a:t>
            </a:r>
            <a:r>
              <a:rPr lang="en-US" dirty="0" smtClean="0"/>
              <a:t> Highly flexible; rich in context and meaning.</a:t>
            </a:r>
          </a:p>
          <a:p>
            <a:r>
              <a:rPr lang="en-US" b="1" dirty="0" smtClean="0"/>
              <a:t>Cons:</a:t>
            </a:r>
            <a:r>
              <a:rPr lang="en-US" dirty="0" smtClean="0"/>
              <a:t> Difficult to process, search, and analyze directly.</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Data Type #3: Semi-structured Data</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Definition:</a:t>
            </a:r>
            <a:r>
              <a:rPr lang="en-US" dirty="0" smtClean="0"/>
              <a:t> Data that doesn't reside in a rigid table but still contains tags or markers to separate data elements and enforce hierarchies.</a:t>
            </a:r>
          </a:p>
          <a:p>
            <a:r>
              <a:rPr lang="en-US" b="1" dirty="0" smtClean="0"/>
              <a:t>Examples:</a:t>
            </a:r>
            <a:r>
              <a:rPr lang="en-US" dirty="0" smtClean="0"/>
              <a:t> JSON, XML, HTML code, CSV files.</a:t>
            </a:r>
          </a:p>
          <a:p>
            <a:r>
              <a:rPr lang="en-US" b="1" dirty="0" smtClean="0"/>
              <a:t>Pros:</a:t>
            </a:r>
            <a:r>
              <a:rPr lang="en-US" dirty="0" smtClean="0"/>
              <a:t> More flexible than structured data, but easier to process than unstructured data. It's "self-describing."</a:t>
            </a:r>
          </a:p>
          <a:p>
            <a:r>
              <a:rPr lang="en-US" b="1" dirty="0" smtClean="0"/>
              <a:t>Analogy:</a:t>
            </a:r>
            <a:r>
              <a:rPr lang="en-US" dirty="0" smtClean="0"/>
              <a:t> A detailed email with a subject line, sender, and body text, but no fixed table structure.</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 Sources of Data: Internal vs. External</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Internal Data Sources:</a:t>
            </a:r>
            <a:r>
              <a:rPr lang="en-US" dirty="0" smtClean="0"/>
              <a:t> Data generated from within the organization. It is proprietary and often unique.</a:t>
            </a:r>
          </a:p>
          <a:p>
            <a:pPr lvl="1"/>
            <a:r>
              <a:rPr lang="en-US" i="1" dirty="0" smtClean="0"/>
              <a:t>Examples:</a:t>
            </a:r>
            <a:r>
              <a:rPr lang="en-US" dirty="0" smtClean="0"/>
              <a:t> Sales records, customer support logs, internal financial data, employee timesheets.</a:t>
            </a:r>
          </a:p>
          <a:p>
            <a:r>
              <a:rPr lang="en-US" b="1" dirty="0" smtClean="0"/>
              <a:t>External Data Sources:</a:t>
            </a:r>
            <a:r>
              <a:rPr lang="en-US" dirty="0" smtClean="0"/>
              <a:t> Data gathered from outside the organization.</a:t>
            </a:r>
          </a:p>
          <a:p>
            <a:pPr lvl="1"/>
            <a:r>
              <a:rPr lang="en-US" i="1" dirty="0" smtClean="0"/>
              <a:t>Examples:</a:t>
            </a:r>
            <a:r>
              <a:rPr lang="en-US" dirty="0" smtClean="0"/>
              <a:t> Public government datasets (census), social media feeds, market research reports, data from partners or third-party APIs.</a:t>
            </a:r>
          </a:p>
          <a:p>
            <a:pPr lvl="1"/>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What is Data Collection?</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Definition:</a:t>
            </a:r>
            <a:r>
              <a:rPr lang="en-US" dirty="0" smtClean="0"/>
              <a:t> The systematic process of gathering and measuring information from various sources to get a complete and accurate picture of an area of interest.</a:t>
            </a:r>
          </a:p>
          <a:p>
            <a:r>
              <a:rPr lang="en-US" b="1" dirty="0" smtClean="0"/>
              <a:t>Data collection enables:</a:t>
            </a:r>
            <a:r>
              <a:rPr lang="en-US" dirty="0" smtClean="0"/>
              <a:t> Analysis, decision-making, and answering of critical business questions.</a:t>
            </a:r>
          </a:p>
          <a:p>
            <a:r>
              <a:rPr lang="en-US" b="1" dirty="0" smtClean="0"/>
              <a:t>Key Requirement:</a:t>
            </a:r>
            <a:r>
              <a:rPr lang="en-US" dirty="0" smtClean="0"/>
              <a:t> The method used must be valid (measuring what it intends to) and reliable (producing consistent results).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Primary vs. Secondary Data Collection</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10000"/>
          </a:bodyPr>
          <a:lstStyle/>
          <a:p>
            <a:r>
              <a:rPr lang="en-US" b="1" dirty="0" smtClean="0"/>
              <a:t>Primary Data:</a:t>
            </a:r>
            <a:r>
              <a:rPr lang="en-US" dirty="0" smtClean="0"/>
              <a:t> Data collected firsthand by the user specifically for their own purpose.</a:t>
            </a:r>
          </a:p>
          <a:p>
            <a:pPr lvl="1"/>
            <a:r>
              <a:rPr lang="en-US" i="1" dirty="0" smtClean="0"/>
              <a:t>Methods:</a:t>
            </a:r>
            <a:r>
              <a:rPr lang="en-US" dirty="0" smtClean="0"/>
              <a:t> Surveys, interviews, focus groups, direct observation, experiments.</a:t>
            </a:r>
          </a:p>
          <a:p>
            <a:pPr lvl="1"/>
            <a:r>
              <a:rPr lang="en-US" i="1" dirty="0" smtClean="0"/>
              <a:t>Pros:</a:t>
            </a:r>
            <a:r>
              <a:rPr lang="en-US" dirty="0" smtClean="0"/>
              <a:t> Highly specific, relevant, and controlled.</a:t>
            </a:r>
          </a:p>
          <a:p>
            <a:pPr lvl="1"/>
            <a:r>
              <a:rPr lang="en-US" i="1" dirty="0" smtClean="0"/>
              <a:t>Cons:</a:t>
            </a:r>
            <a:r>
              <a:rPr lang="en-US" dirty="0" smtClean="0"/>
              <a:t> Expensive and time-consuming.</a:t>
            </a:r>
          </a:p>
          <a:p>
            <a:r>
              <a:rPr lang="en-US" b="1" dirty="0" smtClean="0"/>
              <a:t>Secondary Data:</a:t>
            </a:r>
            <a:r>
              <a:rPr lang="en-US" dirty="0" smtClean="0"/>
              <a:t> Data that already exists and was collected by someone else for another purpose.</a:t>
            </a:r>
          </a:p>
          <a:p>
            <a:pPr lvl="1"/>
            <a:r>
              <a:rPr lang="en-US" i="1" dirty="0" smtClean="0"/>
              <a:t>Sources:</a:t>
            </a:r>
            <a:r>
              <a:rPr lang="en-US" dirty="0" smtClean="0"/>
              <a:t> Government reports, industry journals, company databases, academic papers.</a:t>
            </a:r>
          </a:p>
          <a:p>
            <a:pPr lvl="1"/>
            <a:r>
              <a:rPr lang="en-US" i="1" dirty="0" smtClean="0"/>
              <a:t>Pros:</a:t>
            </a:r>
            <a:r>
              <a:rPr lang="en-US" dirty="0" smtClean="0"/>
              <a:t> Cheap and fast to obtain.</a:t>
            </a:r>
          </a:p>
          <a:p>
            <a:pPr lvl="1"/>
            <a:r>
              <a:rPr lang="en-US" i="1" dirty="0" smtClean="0"/>
              <a:t>Cons:</a:t>
            </a:r>
            <a:r>
              <a:rPr lang="en-US" dirty="0" smtClean="0"/>
              <a:t> May not be perfectly relevant or fit the current question.</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57166"/>
            <a:ext cx="7055380" cy="1400530"/>
          </a:xfrm>
        </p:spPr>
        <p:txBody>
          <a:bodyPr>
            <a:normAutofit fontScale="90000"/>
          </a:bodyPr>
          <a:lstStyle/>
          <a:p>
            <a:r>
              <a:rPr lang="en-US" b="1" dirty="0" smtClean="0">
                <a:effectLst>
                  <a:outerShdw blurRad="38100" dist="38100" dir="2700000" algn="tl">
                    <a:srgbClr val="000000">
                      <a:alpha val="43137"/>
                    </a:srgbClr>
                  </a:outerShdw>
                </a:effectLst>
              </a:rPr>
              <a:t>Introduction to Data Lifecycle Management (DLM)</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00034" y="2285992"/>
            <a:ext cx="6711654" cy="4195481"/>
          </a:xfrm>
        </p:spPr>
        <p:txBody>
          <a:bodyPr/>
          <a:lstStyle/>
          <a:p>
            <a:r>
              <a:rPr lang="en-US" b="1" dirty="0" smtClean="0"/>
              <a:t>Definition:</a:t>
            </a:r>
            <a:r>
              <a:rPr lang="en-US" dirty="0" smtClean="0"/>
              <a:t> A policy-based approach to managing the flow of an organization's data throughout its lifecycle—from creation and initial storage to the time it becomes obsolete and is deleted.</a:t>
            </a:r>
          </a:p>
          <a:p>
            <a:r>
              <a:rPr lang="en-US" b="1" dirty="0" smtClean="0"/>
              <a:t>Goal:</a:t>
            </a:r>
            <a:r>
              <a:rPr lang="en-US" dirty="0" smtClean="0"/>
              <a:t> To ensure data is available, secure, and properly managed at all stages for optimal business value and compliance.</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 Stage 1-2: Create &amp; Store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 Create/Collect:</a:t>
            </a:r>
            <a:r>
              <a:rPr lang="en-US" dirty="0" smtClean="0"/>
              <a:t> The data is generated or acquired. This could be from a user input, sensor, system log, or external purchase.</a:t>
            </a:r>
          </a:p>
          <a:p>
            <a:r>
              <a:rPr lang="en-US" b="1" dirty="0" smtClean="0"/>
              <a:t> Store:</a:t>
            </a:r>
            <a:r>
              <a:rPr lang="en-US" dirty="0" smtClean="0"/>
              <a:t> The data is saved in a repository. This could be a database, data lake, filing system, or cloud storage. The storage method depends on the data's type and value.</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 Stage 3-4: Use &amp; Share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 Use:</a:t>
            </a:r>
            <a:r>
              <a:rPr lang="en-US" dirty="0" smtClean="0"/>
              <a:t> The data is accessed and utilized for a specific purpose (e.g., viewing a report, running a query, training an AI model). Data integrity is critical here.</a:t>
            </a:r>
          </a:p>
          <a:p>
            <a:r>
              <a:rPr lang="en-US" b="1" dirty="0" smtClean="0"/>
              <a:t> Share:</a:t>
            </a:r>
            <a:r>
              <a:rPr lang="en-US" dirty="0" smtClean="0"/>
              <a:t> The data is made available to other users, departments, or partner organizations. This stage demands strong security controls (access control, encryption) to prevent leaks.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 Archive &amp; Destroy</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 Archive:</a:t>
            </a:r>
            <a:r>
              <a:rPr lang="en-US" dirty="0" smtClean="0"/>
              <a:t> Data that is no longer actively used but must be retained for legal, regulatory, or historical reasons is moved to long-term, low-cost storage.</a:t>
            </a:r>
          </a:p>
          <a:p>
            <a:r>
              <a:rPr lang="en-US" b="1" dirty="0" smtClean="0"/>
              <a:t> Destroy:</a:t>
            </a:r>
            <a:r>
              <a:rPr lang="en-US" dirty="0" smtClean="0"/>
              <a:t> Data that is no longer needed and has passed its retention period is securely and permanently deleted. This stage is critical for reducing risk and complying with privacy laws like GDPR.</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Data Integrity vs. Data Quality</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Both are essential for trust in data, but they are different.</a:t>
            </a:r>
            <a:endParaRPr lang="en-US" dirty="0" smtClean="0"/>
          </a:p>
          <a:p>
            <a:r>
              <a:rPr lang="en-US" b="1" dirty="0" smtClean="0"/>
              <a:t>Data Integrity:</a:t>
            </a:r>
            <a:r>
              <a:rPr lang="en-US" dirty="0" smtClean="0"/>
              <a:t> Focuses on the </a:t>
            </a:r>
            <a:r>
              <a:rPr lang="en-US" b="1" dirty="0" smtClean="0"/>
              <a:t>wholeness, accuracy, and consistency</a:t>
            </a:r>
            <a:r>
              <a:rPr lang="en-US" dirty="0" smtClean="0"/>
              <a:t> of data over its entire lifecycle. Is the data unaltered and trustworthy?</a:t>
            </a:r>
          </a:p>
          <a:p>
            <a:pPr lvl="1"/>
            <a:r>
              <a:rPr lang="en-US" i="1" dirty="0" smtClean="0"/>
              <a:t>Maintained by:</a:t>
            </a:r>
            <a:r>
              <a:rPr lang="en-US" dirty="0" smtClean="0"/>
              <a:t> Access controls, audit trails, backup/recovery, data validation rules.</a:t>
            </a:r>
          </a:p>
          <a:p>
            <a:r>
              <a:rPr lang="en-US" b="1" dirty="0" smtClean="0"/>
              <a:t>Data Quality:</a:t>
            </a:r>
            <a:r>
              <a:rPr lang="en-US" dirty="0" smtClean="0"/>
              <a:t> Focuses on </a:t>
            </a:r>
            <a:r>
              <a:rPr lang="en-US" b="1" dirty="0" smtClean="0"/>
              <a:t>fitness for use</a:t>
            </a:r>
            <a:r>
              <a:rPr lang="en-US" dirty="0" smtClean="0"/>
              <a:t>. Is the data correct, complete, and timely for a specific purpose?</a:t>
            </a:r>
          </a:p>
          <a:p>
            <a:pPr lvl="1"/>
            <a:r>
              <a:rPr lang="en-US" i="1" dirty="0" smtClean="0"/>
              <a:t>Measured by:</a:t>
            </a:r>
            <a:r>
              <a:rPr lang="en-US" dirty="0" smtClean="0"/>
              <a:t> Accuracy, completeness, consistency, timeliness, validity.</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Data Lifecycle Management Summary</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Analogy: Pet Data Management</a:t>
            </a:r>
            <a:endParaRPr lang="en-US" dirty="0" smtClean="0"/>
          </a:p>
          <a:p>
            <a:pPr lvl="1"/>
            <a:r>
              <a:rPr lang="en-US" b="1" dirty="0" smtClean="0"/>
              <a:t>Collect:</a:t>
            </a:r>
            <a:r>
              <a:rPr lang="en-US" dirty="0" smtClean="0"/>
              <a:t> You buy a puppy.</a:t>
            </a:r>
          </a:p>
          <a:p>
            <a:pPr lvl="1"/>
            <a:r>
              <a:rPr lang="en-US" b="1" dirty="0" smtClean="0"/>
              <a:t>Store:</a:t>
            </a:r>
            <a:r>
              <a:rPr lang="en-US" dirty="0" smtClean="0"/>
              <a:t> You build a fenced yard.</a:t>
            </a:r>
          </a:p>
          <a:p>
            <a:pPr lvl="1"/>
            <a:r>
              <a:rPr lang="en-US" b="1" dirty="0" smtClean="0"/>
              <a:t>Use:</a:t>
            </a:r>
            <a:r>
              <a:rPr lang="en-US" dirty="0" smtClean="0"/>
              <a:t> You play with the puppy daily.</a:t>
            </a:r>
          </a:p>
          <a:p>
            <a:pPr lvl="1"/>
            <a:r>
              <a:rPr lang="en-US" b="1" dirty="0" smtClean="0"/>
              <a:t>Share:</a:t>
            </a:r>
            <a:r>
              <a:rPr lang="en-US" dirty="0" smtClean="0"/>
              <a:t> You let your neighbor pet the puppy.</a:t>
            </a:r>
          </a:p>
          <a:p>
            <a:pPr lvl="1"/>
            <a:r>
              <a:rPr lang="en-US" b="1" dirty="0" smtClean="0"/>
              <a:t>Archive:</a:t>
            </a:r>
            <a:r>
              <a:rPr lang="en-US" dirty="0" smtClean="0"/>
              <a:t> The puppy grows old and rests more.</a:t>
            </a:r>
          </a:p>
          <a:p>
            <a:pPr lvl="1"/>
            <a:r>
              <a:rPr lang="en-US" b="1" dirty="0" smtClean="0"/>
              <a:t>Destroy:</a:t>
            </a:r>
            <a:r>
              <a:rPr lang="en-US" dirty="0" smtClean="0"/>
              <a:t> End-of-life care.</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Key Takeaway for Data Management</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Poor Data Integrity = Unreliable Data</a:t>
            </a:r>
            <a:r>
              <a:rPr lang="en-US" dirty="0" smtClean="0"/>
              <a:t> (You can't trust it).</a:t>
            </a:r>
          </a:p>
          <a:p>
            <a:r>
              <a:rPr lang="en-US" b="1" dirty="0" smtClean="0"/>
              <a:t>Poor Data Quality = Useless Data</a:t>
            </a:r>
            <a:r>
              <a:rPr lang="en-US" dirty="0" smtClean="0"/>
              <a:t> (Even if you trust it, it's wrong for the task).</a:t>
            </a:r>
          </a:p>
          <a:p>
            <a:r>
              <a:rPr lang="en-US" b="1" dirty="0" smtClean="0"/>
              <a:t>Goal:</a:t>
            </a:r>
            <a:r>
              <a:rPr lang="en-US" dirty="0" smtClean="0"/>
              <a:t> Implement processes to ensure </a:t>
            </a:r>
            <a:r>
              <a:rPr lang="en-US" i="1" dirty="0" smtClean="0"/>
              <a:t>both</a:t>
            </a:r>
            <a:r>
              <a:rPr lang="en-US" dirty="0" smtClean="0"/>
              <a:t> high data integrity and high data quality throughout every stage of the data lifecycle.</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 Summary of DLM</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We learned the three types of data: Structured, Semi-structured, and Unstructured.</a:t>
            </a:r>
          </a:p>
          <a:p>
            <a:r>
              <a:rPr lang="en-US" dirty="0" smtClean="0"/>
              <a:t>We explored internal vs. external data sources and primary vs. secondary collection.</a:t>
            </a:r>
          </a:p>
          <a:p>
            <a:r>
              <a:rPr lang="en-US" dirty="0" smtClean="0"/>
              <a:t>The 6-stage Data Lifecycle helps manage data from creation to destruction.</a:t>
            </a:r>
          </a:p>
          <a:p>
            <a:r>
              <a:rPr lang="en-US" dirty="0" smtClean="0"/>
              <a:t>Data Integrity (wholeness) is different, but related to, Data Quality (fitness). Both are vital.</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85786" y="571481"/>
            <a:ext cx="6620968" cy="2928958"/>
          </a:xfrm>
        </p:spPr>
        <p:txBody>
          <a:bodyPr/>
          <a:lstStyle/>
          <a:p>
            <a:r>
              <a:rPr lang="en-US" sz="5000" b="1" dirty="0" smtClean="0"/>
              <a:t>What is Enterprise Resource Planning (ERP</a:t>
            </a:r>
            <a:r>
              <a:rPr lang="en-US" sz="5000" b="1" dirty="0" smtClean="0"/>
              <a:t>)</a:t>
            </a:r>
            <a:endParaRPr lang="en-US" sz="5000" dirty="0"/>
          </a:p>
        </p:txBody>
      </p:sp>
      <p:sp>
        <p:nvSpPr>
          <p:cNvPr id="5" name="Subtitle 4"/>
          <p:cNvSpPr>
            <a:spLocks noGrp="1"/>
          </p:cNvSpPr>
          <p:nvPr>
            <p:ph type="subTitle" idx="1"/>
          </p:nvPr>
        </p:nvSpPr>
        <p:spPr>
          <a:xfrm>
            <a:off x="866442" y="4214818"/>
            <a:ext cx="6620968" cy="1928826"/>
          </a:xfrm>
        </p:spPr>
        <p:txBody>
          <a:bodyPr/>
          <a:lstStyle/>
          <a:p>
            <a:r>
              <a:rPr lang="en-US" dirty="0" smtClean="0"/>
              <a:t> What is ERP?</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What is </a:t>
            </a:r>
            <a:r>
              <a:rPr lang="en-US" dirty="0" smtClean="0"/>
              <a:t>ERP?</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ERP (Enterprise Resource Planning) is a software system that integrates and manages core business processes like finance, HR, supply chain, and manufacturing into a single, unified platform.</a:t>
            </a:r>
          </a:p>
          <a:p>
            <a:r>
              <a:rPr lang="en-US" b="1" dirty="0" smtClean="0"/>
              <a:t>Key Benefits:</a:t>
            </a:r>
            <a:endParaRPr lang="en-US" dirty="0" smtClean="0"/>
          </a:p>
          <a:p>
            <a:r>
              <a:rPr lang="en-US" dirty="0" smtClean="0"/>
              <a:t>Centralizes data from all departments</a:t>
            </a:r>
          </a:p>
          <a:p>
            <a:r>
              <a:rPr lang="en-US" dirty="0" smtClean="0"/>
              <a:t>Streamlines operations across the organization</a:t>
            </a:r>
          </a:p>
          <a:p>
            <a:r>
              <a:rPr lang="en-US" dirty="0" smtClean="0"/>
              <a:t>Provides a real-time, single source of truth</a:t>
            </a:r>
          </a:p>
          <a:p>
            <a:r>
              <a:rPr lang="en-US" b="1" dirty="0" smtClean="0"/>
              <a:t>Example:</a:t>
            </a:r>
            <a:r>
              <a:rPr lang="en-US" dirty="0" smtClean="0"/>
              <a:t> When a sales order is entered, inventory, accounting, and shipping are all updated automatically.</a:t>
            </a:r>
          </a:p>
          <a:p>
            <a:r>
              <a:rPr lang="en-US" dirty="0" smtClean="0"/>
              <a:t/>
            </a:r>
            <a:br>
              <a:rPr lang="en-US" dirty="0" smtClean="0"/>
            </a:b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1"/>
                </a:solidFill>
              </a:rPr>
              <a:t>Key Features of ERP Systems</a:t>
            </a:r>
            <a:endParaRPr lang="en-US" b="1" dirty="0"/>
          </a:p>
        </p:txBody>
      </p:sp>
      <p:pic>
        <p:nvPicPr>
          <p:cNvPr id="4" name="Content Placeholder 3" descr="Gemini_Generated_Image_t8hrb3t8hrb3t8hr.png"/>
          <p:cNvPicPr>
            <a:picLocks noGrp="1" noChangeAspect="1"/>
          </p:cNvPicPr>
          <p:nvPr>
            <p:ph idx="1"/>
          </p:nvPr>
        </p:nvPicPr>
        <p:blipFill>
          <a:blip r:embed="rId2"/>
          <a:stretch>
            <a:fillRect/>
          </a:stretch>
        </p:blipFill>
        <p:spPr>
          <a:xfrm>
            <a:off x="827088" y="2319987"/>
            <a:ext cx="6711950" cy="3661064"/>
          </a:xfr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Core Modules in ERP</a:t>
            </a:r>
            <a:endParaRPr lang="en-US" b="1" dirty="0"/>
          </a:p>
        </p:txBody>
      </p:sp>
      <p:pic>
        <p:nvPicPr>
          <p:cNvPr id="4" name="Content Placeholder 3" descr="Gemini_Generated_Image_8lwum58lwum58lwu.png"/>
          <p:cNvPicPr>
            <a:picLocks noGrp="1" noChangeAspect="1"/>
          </p:cNvPicPr>
          <p:nvPr>
            <p:ph idx="1"/>
          </p:nvPr>
        </p:nvPicPr>
        <p:blipFill>
          <a:blip r:embed="rId2"/>
          <a:stretch>
            <a:fillRect/>
          </a:stretch>
        </p:blipFill>
        <p:spPr>
          <a:xfrm>
            <a:off x="827088" y="2319987"/>
            <a:ext cx="6711950" cy="3661064"/>
          </a:xfr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How ERP Works – Centralized Database</a:t>
            </a:r>
            <a:endParaRPr lang="en-US" b="1" dirty="0"/>
          </a:p>
        </p:txBody>
      </p:sp>
      <p:sp>
        <p:nvSpPr>
          <p:cNvPr id="3" name="Content Placeholder 2"/>
          <p:cNvSpPr>
            <a:spLocks noGrp="1"/>
          </p:cNvSpPr>
          <p:nvPr>
            <p:ph idx="1"/>
          </p:nvPr>
        </p:nvSpPr>
        <p:spPr/>
        <p:txBody>
          <a:bodyPr/>
          <a:lstStyle/>
          <a:p>
            <a:r>
              <a:rPr lang="en-US" dirty="0" smtClean="0"/>
              <a:t>All departments (Finance, HR, Sales, Inventory) store and access data from ONE database</a:t>
            </a:r>
          </a:p>
          <a:p>
            <a:r>
              <a:rPr lang="en-US" dirty="0" smtClean="0"/>
              <a:t>Data is entered once, used everywhere</a:t>
            </a:r>
          </a:p>
          <a:p>
            <a:r>
              <a:rPr lang="en-US" dirty="0" smtClean="0"/>
              <a:t>Avoids data duplication and inconsistencies</a:t>
            </a:r>
          </a:p>
          <a:p>
            <a:r>
              <a:rPr lang="en-US" b="1" dirty="0" smtClean="0"/>
              <a:t>Example:</a:t>
            </a:r>
            <a:endParaRPr lang="en-US" dirty="0" smtClean="0"/>
          </a:p>
          <a:p>
            <a:r>
              <a:rPr lang="en-US" dirty="0" smtClean="0"/>
              <a:t>When the sales team records a new order, the inventory and accounting modules are automatically updated – no manual entry needed.</a:t>
            </a:r>
          </a:p>
          <a:p>
            <a:r>
              <a:rPr lang="en-US" b="1" dirty="0" smtClean="0"/>
              <a:t>Result:</a:t>
            </a:r>
            <a:r>
              <a:rPr lang="en-US" dirty="0" smtClean="0"/>
              <a:t> Everyone works with the same, real-time data.</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452718"/>
            <a:ext cx="7659190" cy="1400530"/>
          </a:xfrm>
        </p:spPr>
        <p:txBody>
          <a:bodyPr/>
          <a:lstStyle/>
          <a:p>
            <a:r>
              <a:rPr lang="en-US" b="1" dirty="0" smtClean="0"/>
              <a:t>How ERP Works – Integration and Automation</a:t>
            </a:r>
            <a:endParaRPr lang="en-US" b="1" dirty="0"/>
          </a:p>
        </p:txBody>
      </p:sp>
      <p:pic>
        <p:nvPicPr>
          <p:cNvPr id="4" name="Content Placeholder 3" descr="Gemini_Generated_Image_cb0tdpcb0tdpcb0t.png"/>
          <p:cNvPicPr>
            <a:picLocks noGrp="1" noChangeAspect="1"/>
          </p:cNvPicPr>
          <p:nvPr>
            <p:ph idx="1"/>
          </p:nvPr>
        </p:nvPicPr>
        <p:blipFill>
          <a:blip r:embed="rId2"/>
          <a:stretch>
            <a:fillRect/>
          </a:stretch>
        </p:blipFill>
        <p:spPr>
          <a:xfrm>
            <a:off x="827088" y="2319987"/>
            <a:ext cx="6711950" cy="3661064"/>
          </a:xfr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Top</a:t>
            </a:r>
            <a:r>
              <a:rPr lang="en-US" dirty="0" smtClean="0"/>
              <a:t> </a:t>
            </a:r>
            <a:r>
              <a:rPr lang="en-US" b="1" dirty="0" smtClean="0"/>
              <a:t>Benefits of ERP</a:t>
            </a:r>
            <a:br>
              <a:rPr lang="en-US" b="1" dirty="0" smtClean="0"/>
            </a:br>
            <a:endParaRPr lang="en-US" dirty="0"/>
          </a:p>
        </p:txBody>
      </p:sp>
      <p:pic>
        <p:nvPicPr>
          <p:cNvPr id="8" name="Content Placeholder 7" descr="Gemini_Generated_Image_eyvczfeyvczfeyvc.png"/>
          <p:cNvPicPr>
            <a:picLocks noGrp="1" noChangeAspect="1"/>
          </p:cNvPicPr>
          <p:nvPr>
            <p:ph idx="1"/>
          </p:nvPr>
        </p:nvPicPr>
        <p:blipFill>
          <a:blip r:embed="rId2"/>
          <a:stretch>
            <a:fillRect/>
          </a:stretch>
        </p:blipFill>
        <p:spPr>
          <a:xfrm>
            <a:off x="827088" y="2319987"/>
            <a:ext cx="6711950" cy="3661064"/>
          </a:xfr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Popular ERP Software</a:t>
            </a:r>
            <a:endParaRPr lang="en-US" b="1" dirty="0"/>
          </a:p>
        </p:txBody>
      </p:sp>
      <p:pic>
        <p:nvPicPr>
          <p:cNvPr id="4" name="Content Placeholder 3" descr="Gemini_Generated_Image_7wo24o7wo24o7wo2.png"/>
          <p:cNvPicPr>
            <a:picLocks noGrp="1" noChangeAspect="1"/>
          </p:cNvPicPr>
          <p:nvPr>
            <p:ph idx="1"/>
          </p:nvPr>
        </p:nvPicPr>
        <p:blipFill>
          <a:blip r:embed="rId2"/>
          <a:stretch>
            <a:fillRect/>
          </a:stretch>
        </p:blipFill>
        <p:spPr>
          <a:xfrm>
            <a:off x="285720" y="1857364"/>
            <a:ext cx="8429684" cy="4714907"/>
          </a:xfr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ERP Security and Access Control</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How ERP protects sensitive information:</a:t>
            </a:r>
            <a:endParaRPr lang="en-US" dirty="0" smtClean="0"/>
          </a:p>
          <a:p>
            <a:r>
              <a:rPr lang="en-US" b="1" dirty="0" smtClean="0"/>
              <a:t>Role-Based Access Control (RBAC):</a:t>
            </a:r>
            <a:r>
              <a:rPr lang="en-US" dirty="0" smtClean="0"/>
              <a:t> Users only access data relevant to their job</a:t>
            </a:r>
          </a:p>
          <a:p>
            <a:pPr lvl="1"/>
            <a:r>
              <a:rPr lang="en-US" i="1" dirty="0" smtClean="0"/>
              <a:t>Example: Sales staff see customer orders, NOT payroll data</a:t>
            </a:r>
            <a:endParaRPr lang="en-US" dirty="0" smtClean="0"/>
          </a:p>
          <a:p>
            <a:r>
              <a:rPr lang="en-US" b="1" dirty="0" smtClean="0"/>
              <a:t>Data Encryption:</a:t>
            </a:r>
            <a:r>
              <a:rPr lang="en-US" dirty="0" smtClean="0"/>
              <a:t> Data is encrypted during transmission and storage</a:t>
            </a:r>
          </a:p>
          <a:p>
            <a:r>
              <a:rPr lang="en-US" b="1" dirty="0" smtClean="0"/>
              <a:t>User Authentication:</a:t>
            </a:r>
            <a:r>
              <a:rPr lang="en-US" dirty="0" smtClean="0"/>
              <a:t> Strong passwords, multi-factor authentication (MFA)</a:t>
            </a:r>
          </a:p>
          <a:p>
            <a:r>
              <a:rPr lang="en-US" b="1" dirty="0" smtClean="0"/>
              <a:t>Audit Trails:</a:t>
            </a:r>
            <a:r>
              <a:rPr lang="en-US" dirty="0" smtClean="0"/>
              <a:t> Every data access and change is logged</a:t>
            </a:r>
          </a:p>
          <a:p>
            <a:r>
              <a:rPr lang="en-US" b="1" dirty="0" smtClean="0"/>
              <a:t>Regular Backups:</a:t>
            </a:r>
            <a:r>
              <a:rPr lang="en-US" dirty="0" smtClean="0"/>
              <a:t> Data is backed up to prevent loss from </a:t>
            </a:r>
            <a:r>
              <a:rPr lang="en-US" dirty="0" err="1" smtClean="0"/>
              <a:t>ransomware</a:t>
            </a:r>
            <a:r>
              <a:rPr lang="en-US" dirty="0" smtClean="0"/>
              <a:t> or disaster</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Topic: ERP </a:t>
            </a:r>
            <a:r>
              <a:rPr lang="en-US" b="1" dirty="0" err="1" smtClean="0"/>
              <a:t>vs</a:t>
            </a:r>
            <a:r>
              <a:rPr lang="en-US" b="1" dirty="0" smtClean="0"/>
              <a:t> CRM – Key </a:t>
            </a:r>
            <a:r>
              <a:rPr lang="en-US" b="1" dirty="0" smtClean="0"/>
              <a:t>Differences</a:t>
            </a:r>
            <a:endParaRPr lang="en-US" dirty="0"/>
          </a:p>
        </p:txBody>
      </p:sp>
      <p:pic>
        <p:nvPicPr>
          <p:cNvPr id="4" name="Content Placeholder 3" descr="Gemini_Generated_Image_lnld9tlnld9tlnld.png"/>
          <p:cNvPicPr>
            <a:picLocks noGrp="1" noChangeAspect="1"/>
          </p:cNvPicPr>
          <p:nvPr>
            <p:ph idx="1"/>
          </p:nvPr>
        </p:nvPicPr>
        <p:blipFill>
          <a:blip r:embed="rId2"/>
          <a:stretch>
            <a:fillRect/>
          </a:stretch>
        </p:blipFill>
        <p:spPr>
          <a:xfrm>
            <a:off x="827087" y="2319986"/>
            <a:ext cx="7795855" cy="4252285"/>
          </a:xfr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Transition – From ERP to Data-Driven Decisions</a:t>
            </a:r>
            <a:br>
              <a:rPr lang="en-US" b="1" dirty="0" smtClean="0"/>
            </a:br>
            <a:endParaRPr lang="en-US" dirty="0"/>
          </a:p>
        </p:txBody>
      </p:sp>
      <p:sp>
        <p:nvSpPr>
          <p:cNvPr id="3" name="Content Placeholder 2"/>
          <p:cNvSpPr>
            <a:spLocks noGrp="1"/>
          </p:cNvSpPr>
          <p:nvPr>
            <p:ph idx="1"/>
          </p:nvPr>
        </p:nvSpPr>
        <p:spPr/>
        <p:txBody>
          <a:bodyPr/>
          <a:lstStyle/>
          <a:p>
            <a:r>
              <a:rPr lang="en-US" b="1" dirty="0" smtClean="0"/>
              <a:t>Now that we understand how ERP integrates business data...</a:t>
            </a:r>
            <a:endParaRPr lang="en-US" dirty="0" smtClean="0"/>
          </a:p>
          <a:p>
            <a:r>
              <a:rPr lang="en-US" dirty="0" smtClean="0"/>
              <a:t>ERP collects and stores data from Finance, HR, Sales, Inventory, and Supply Chain</a:t>
            </a:r>
          </a:p>
          <a:p>
            <a:r>
              <a:rPr lang="en-US" dirty="0" smtClean="0"/>
              <a:t>But data alone is not enough</a:t>
            </a:r>
          </a:p>
          <a:p>
            <a:r>
              <a:rPr lang="en-US" b="1" dirty="0" smtClean="0"/>
              <a:t>Next Section:</a:t>
            </a:r>
            <a:endParaRPr lang="en-US" dirty="0" smtClean="0"/>
          </a:p>
          <a:p>
            <a:r>
              <a:rPr lang="en-US" dirty="0" smtClean="0"/>
              <a:t>How to analyze that data</a:t>
            </a:r>
          </a:p>
          <a:p>
            <a:r>
              <a:rPr lang="en-US" dirty="0" smtClean="0"/>
              <a:t>How to make better decisions using Data-Driven Decision Making (DDDM)</a:t>
            </a:r>
          </a:p>
          <a:p>
            <a:r>
              <a:rPr lang="en-US" b="1" dirty="0" smtClean="0"/>
              <a:t>Data → Information → Insights → Decisions</a:t>
            </a:r>
            <a:endParaRPr lang="en-US" dirty="0" smtClean="0"/>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 Topic: IT </a:t>
            </a:r>
            <a:r>
              <a:rPr lang="en-US" b="1" dirty="0" err="1" smtClean="0"/>
              <a:t>vs</a:t>
            </a:r>
            <a:r>
              <a:rPr lang="en-US" b="1" dirty="0" smtClean="0"/>
              <a:t> Computer Science</a:t>
            </a:r>
            <a:br>
              <a:rPr lang="en-US" b="1" dirty="0" smtClean="0"/>
            </a:br>
            <a:endParaRPr lang="en-US" dirty="0"/>
          </a:p>
        </p:txBody>
      </p:sp>
      <p:sp>
        <p:nvSpPr>
          <p:cNvPr id="3" name="Content Placeholder 2"/>
          <p:cNvSpPr>
            <a:spLocks noGrp="1"/>
          </p:cNvSpPr>
          <p:nvPr>
            <p:ph type="subTitle" idx="1"/>
          </p:nvPr>
        </p:nvSpPr>
        <p:spPr/>
        <p:txBody>
          <a:bodyPr/>
          <a:lstStyle/>
          <a:p>
            <a:r>
              <a:rPr lang="en-US" dirty="0" smtClean="0"/>
              <a:t> IT vs. Computer Science: What's the Difference?</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IT vs. Computer Science: What's the Difference?</a:t>
            </a:r>
            <a:endParaRPr lang="en-US" dirty="0"/>
          </a:p>
        </p:txBody>
      </p:sp>
      <p:pic>
        <p:nvPicPr>
          <p:cNvPr id="4" name="Content Placeholder 3" descr="Gemini_Generated_Image_l5rbrnl5rbrnl5rb.png"/>
          <p:cNvPicPr>
            <a:picLocks noGrp="1" noChangeAspect="1"/>
          </p:cNvPicPr>
          <p:nvPr>
            <p:ph idx="1"/>
          </p:nvPr>
        </p:nvPicPr>
        <p:blipFill>
          <a:blip r:embed="rId2"/>
          <a:stretch>
            <a:fillRect/>
          </a:stretch>
        </p:blipFill>
        <p:spPr>
          <a:xfrm>
            <a:off x="285720" y="2000240"/>
            <a:ext cx="8501122" cy="4659908"/>
          </a:xfr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Networking Types and Devices</a:t>
            </a:r>
            <a:endParaRPr lang="en-US" b="1" dirty="0"/>
          </a:p>
        </p:txBody>
      </p:sp>
      <p:sp>
        <p:nvSpPr>
          <p:cNvPr id="3" name="Content Placeholder 2"/>
          <p:cNvSpPr>
            <a:spLocks noGrp="1"/>
          </p:cNvSpPr>
          <p:nvPr>
            <p:ph idx="1"/>
          </p:nvPr>
        </p:nvSpPr>
        <p:spPr>
          <a:xfrm>
            <a:off x="214282" y="2052925"/>
            <a:ext cx="8715436" cy="4590785"/>
          </a:xfrm>
        </p:spPr>
        <p:txBody>
          <a:bodyPr>
            <a:normAutofit fontScale="92500" lnSpcReduction="20000"/>
          </a:bodyPr>
          <a:lstStyle/>
          <a:p>
            <a:r>
              <a:rPr lang="en-US" b="1" dirty="0" smtClean="0"/>
              <a:t>PAN: </a:t>
            </a:r>
            <a:r>
              <a:rPr lang="en-US" dirty="0" smtClean="0"/>
              <a:t>Personal </a:t>
            </a:r>
            <a:r>
              <a:rPr lang="en-US" dirty="0" smtClean="0"/>
              <a:t>Area </a:t>
            </a:r>
            <a:r>
              <a:rPr lang="en-US" dirty="0" err="1" smtClean="0"/>
              <a:t>NetworkWithin</a:t>
            </a:r>
            <a:r>
              <a:rPr lang="en-US" dirty="0" smtClean="0"/>
              <a:t> a few </a:t>
            </a:r>
            <a:r>
              <a:rPr lang="en-US" dirty="0" smtClean="0"/>
              <a:t>meters Bluetooth </a:t>
            </a:r>
            <a:r>
              <a:rPr lang="en-US" dirty="0" smtClean="0"/>
              <a:t>connection between phone and </a:t>
            </a:r>
            <a:r>
              <a:rPr lang="en-US" dirty="0" smtClean="0"/>
              <a:t>laptop</a:t>
            </a:r>
          </a:p>
          <a:p>
            <a:r>
              <a:rPr lang="en-US" b="1" dirty="0" err="1" smtClean="0"/>
              <a:t>LAN:</a:t>
            </a:r>
            <a:r>
              <a:rPr lang="en-US" dirty="0" err="1" smtClean="0"/>
              <a:t>Local</a:t>
            </a:r>
            <a:r>
              <a:rPr lang="en-US" dirty="0" smtClean="0"/>
              <a:t> </a:t>
            </a:r>
            <a:r>
              <a:rPr lang="en-US" dirty="0" smtClean="0"/>
              <a:t>Area </a:t>
            </a:r>
            <a:r>
              <a:rPr lang="en-US" dirty="0" smtClean="0"/>
              <a:t>Network Within </a:t>
            </a:r>
            <a:r>
              <a:rPr lang="en-US" dirty="0" smtClean="0"/>
              <a:t>a building or </a:t>
            </a:r>
            <a:r>
              <a:rPr lang="en-US" dirty="0" err="1" smtClean="0"/>
              <a:t>office,Office</a:t>
            </a:r>
            <a:r>
              <a:rPr lang="en-US" dirty="0" smtClean="0"/>
              <a:t> </a:t>
            </a:r>
            <a:r>
              <a:rPr lang="en-US" dirty="0" smtClean="0"/>
              <a:t>computers connected to a </a:t>
            </a:r>
            <a:r>
              <a:rPr lang="en-US" dirty="0" smtClean="0"/>
              <a:t>printer</a:t>
            </a:r>
            <a:endParaRPr lang="en-US" dirty="0" smtClean="0"/>
          </a:p>
          <a:p>
            <a:r>
              <a:rPr lang="en-US" b="1" dirty="0" err="1" smtClean="0"/>
              <a:t>MAN:</a:t>
            </a:r>
            <a:r>
              <a:rPr lang="en-US" dirty="0" err="1" smtClean="0"/>
              <a:t>Metropolitan</a:t>
            </a:r>
            <a:r>
              <a:rPr lang="en-US" dirty="0" smtClean="0"/>
              <a:t> </a:t>
            </a:r>
            <a:r>
              <a:rPr lang="en-US" dirty="0" smtClean="0"/>
              <a:t>Area </a:t>
            </a:r>
            <a:r>
              <a:rPr lang="en-US" dirty="0" smtClean="0"/>
              <a:t>Network Within </a:t>
            </a:r>
            <a:r>
              <a:rPr lang="en-US" dirty="0" smtClean="0"/>
              <a:t>a </a:t>
            </a:r>
            <a:r>
              <a:rPr lang="en-US" dirty="0" smtClean="0"/>
              <a:t>city Cable </a:t>
            </a:r>
            <a:r>
              <a:rPr lang="en-US" dirty="0" smtClean="0"/>
              <a:t>TV network connecting a </a:t>
            </a:r>
            <a:r>
              <a:rPr lang="en-US" dirty="0" smtClean="0"/>
              <a:t>city</a:t>
            </a:r>
          </a:p>
          <a:p>
            <a:r>
              <a:rPr lang="en-US" b="1" dirty="0" err="1" smtClean="0"/>
              <a:t>WAN</a:t>
            </a:r>
            <a:r>
              <a:rPr lang="en-US" dirty="0" err="1" smtClean="0"/>
              <a:t>Wide</a:t>
            </a:r>
            <a:r>
              <a:rPr lang="en-US" dirty="0" smtClean="0"/>
              <a:t> Area </a:t>
            </a:r>
            <a:r>
              <a:rPr lang="en-US" dirty="0" err="1" smtClean="0"/>
              <a:t>NetworkAcross</a:t>
            </a:r>
            <a:r>
              <a:rPr lang="en-US" dirty="0" smtClean="0"/>
              <a:t> cities or </a:t>
            </a:r>
            <a:r>
              <a:rPr lang="en-US" dirty="0" err="1" smtClean="0"/>
              <a:t>countriesThe</a:t>
            </a:r>
            <a:r>
              <a:rPr lang="en-US" dirty="0" smtClean="0"/>
              <a:t> </a:t>
            </a:r>
            <a:r>
              <a:rPr lang="en-US" dirty="0" smtClean="0"/>
              <a:t>Internet</a:t>
            </a:r>
          </a:p>
          <a:p>
            <a:r>
              <a:rPr lang="en-US" b="1" dirty="0" smtClean="0"/>
              <a:t>Network Devices:</a:t>
            </a:r>
            <a:endParaRPr lang="en-US" dirty="0" smtClean="0"/>
          </a:p>
          <a:p>
            <a:r>
              <a:rPr lang="en-US" b="1" dirty="0" smtClean="0"/>
              <a:t>Router:</a:t>
            </a:r>
            <a:r>
              <a:rPr lang="en-US" dirty="0" smtClean="0"/>
              <a:t> Connects different networks and directs traffic</a:t>
            </a:r>
          </a:p>
          <a:p>
            <a:r>
              <a:rPr lang="en-US" b="1" dirty="0" smtClean="0"/>
              <a:t>Switch:</a:t>
            </a:r>
            <a:r>
              <a:rPr lang="en-US" dirty="0" smtClean="0"/>
              <a:t> Connects devices within the same network</a:t>
            </a:r>
          </a:p>
          <a:p>
            <a:r>
              <a:rPr lang="en-US" b="1" dirty="0" smtClean="0"/>
              <a:t>Hub:</a:t>
            </a:r>
            <a:r>
              <a:rPr lang="en-US" dirty="0" smtClean="0"/>
              <a:t> Broadcasts data to all devices (older technology)</a:t>
            </a:r>
          </a:p>
          <a:p>
            <a:r>
              <a:rPr lang="en-US" b="1" dirty="0" smtClean="0"/>
              <a:t>Modem:</a:t>
            </a:r>
            <a:r>
              <a:rPr lang="en-US" dirty="0" smtClean="0"/>
              <a:t> Connects home/office to Internet Service Provider</a:t>
            </a:r>
          </a:p>
          <a:p>
            <a:r>
              <a:rPr lang="en-US" b="1" dirty="0" smtClean="0"/>
              <a:t>Access Point:</a:t>
            </a:r>
            <a:r>
              <a:rPr lang="en-US" dirty="0" smtClean="0"/>
              <a:t> Creates wireless network (Wi-Fi)</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Cloud Computing (</a:t>
            </a:r>
            <a:r>
              <a:rPr lang="en-US" b="1" dirty="0" err="1" smtClean="0"/>
              <a:t>IaaS</a:t>
            </a:r>
            <a:r>
              <a:rPr lang="en-US" b="1" dirty="0" smtClean="0"/>
              <a:t>, </a:t>
            </a:r>
            <a:r>
              <a:rPr lang="en-US" b="1" dirty="0" err="1" smtClean="0"/>
              <a:t>PaaS</a:t>
            </a:r>
            <a:r>
              <a:rPr lang="en-US" b="1" dirty="0" smtClean="0"/>
              <a:t>, </a:t>
            </a:r>
            <a:r>
              <a:rPr lang="en-US" b="1" dirty="0" err="1" smtClean="0"/>
              <a:t>SaaS</a:t>
            </a:r>
            <a:r>
              <a:rPr lang="en-US" b="1" dirty="0" smtClean="0"/>
              <a:t>)</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Provides computing services (servers, storage, databases, software) over the Internet on a pay-as-you-go basis.</a:t>
            </a:r>
          </a:p>
          <a:p>
            <a:pPr>
              <a:buNone/>
            </a:pPr>
            <a:r>
              <a:rPr lang="en-US" b="1" dirty="0" smtClean="0"/>
              <a:t>Three Service Models</a:t>
            </a:r>
            <a:r>
              <a:rPr lang="en-US" b="1" dirty="0" smtClean="0"/>
              <a:t>:</a:t>
            </a:r>
            <a:endParaRPr lang="en-US" dirty="0" smtClean="0"/>
          </a:p>
          <a:p>
            <a:r>
              <a:rPr lang="en-US" b="1" dirty="0" err="1" smtClean="0"/>
              <a:t>IaaS</a:t>
            </a:r>
            <a:r>
              <a:rPr lang="en-US" dirty="0" smtClean="0"/>
              <a:t> (Infrastructure as a Service</a:t>
            </a:r>
            <a:r>
              <a:rPr lang="en-US" dirty="0" smtClean="0"/>
              <a:t>):Virtual </a:t>
            </a:r>
            <a:r>
              <a:rPr lang="en-US" dirty="0" smtClean="0"/>
              <a:t>servers, storage, </a:t>
            </a:r>
            <a:r>
              <a:rPr lang="en-US" dirty="0" smtClean="0"/>
              <a:t>networking eg.AWS </a:t>
            </a:r>
            <a:r>
              <a:rPr lang="en-US" dirty="0" smtClean="0"/>
              <a:t>EC2, Google Compute </a:t>
            </a:r>
            <a:r>
              <a:rPr lang="en-US" dirty="0" smtClean="0"/>
              <a:t>Engine</a:t>
            </a:r>
          </a:p>
          <a:p>
            <a:r>
              <a:rPr lang="en-US" b="1" dirty="0" err="1" smtClean="0"/>
              <a:t>PaaS</a:t>
            </a:r>
            <a:r>
              <a:rPr lang="en-US" dirty="0" smtClean="0"/>
              <a:t> (Platform as a Service</a:t>
            </a:r>
            <a:r>
              <a:rPr lang="en-US" dirty="0" smtClean="0"/>
              <a:t>):Platform </a:t>
            </a:r>
            <a:r>
              <a:rPr lang="en-US" dirty="0" smtClean="0"/>
              <a:t>to build and deploy </a:t>
            </a:r>
            <a:r>
              <a:rPr lang="en-US" dirty="0" err="1" smtClean="0"/>
              <a:t>apps,Google</a:t>
            </a:r>
            <a:r>
              <a:rPr lang="en-US" dirty="0" smtClean="0"/>
              <a:t> </a:t>
            </a:r>
            <a:r>
              <a:rPr lang="en-US" dirty="0" smtClean="0"/>
              <a:t>App Engine, </a:t>
            </a:r>
            <a:r>
              <a:rPr lang="en-US" dirty="0" err="1" smtClean="0"/>
              <a:t>Heroku</a:t>
            </a:r>
            <a:endParaRPr lang="en-US" dirty="0" smtClean="0"/>
          </a:p>
          <a:p>
            <a:r>
              <a:rPr lang="en-US" b="1" dirty="0" err="1" smtClean="0"/>
              <a:t>SaaS</a:t>
            </a:r>
            <a:r>
              <a:rPr lang="en-US" dirty="0" smtClean="0"/>
              <a:t> (Software as a Service</a:t>
            </a:r>
            <a:r>
              <a:rPr lang="en-US" dirty="0" smtClean="0"/>
              <a:t>):Software </a:t>
            </a:r>
            <a:r>
              <a:rPr lang="en-US" dirty="0" smtClean="0"/>
              <a:t>applications over </a:t>
            </a:r>
            <a:r>
              <a:rPr lang="en-US" dirty="0" smtClean="0"/>
              <a:t>internet </a:t>
            </a:r>
            <a:r>
              <a:rPr lang="en-US" dirty="0" err="1" smtClean="0"/>
              <a:t>eg.Gmail</a:t>
            </a:r>
            <a:r>
              <a:rPr lang="en-US" dirty="0" smtClean="0"/>
              <a:t>, Microsoft 365, </a:t>
            </a:r>
            <a:r>
              <a:rPr lang="en-US" dirty="0" err="1" smtClean="0"/>
              <a:t>Salesforce</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Applications of IT in Business</a:t>
            </a:r>
            <a:endParaRPr lang="en-US" b="1" dirty="0"/>
          </a:p>
        </p:txBody>
      </p:sp>
      <p:pic>
        <p:nvPicPr>
          <p:cNvPr id="4" name="Content Placeholder 3" descr="Gemini_Generated_Image_l1w0kil1w0kil1w0.png"/>
          <p:cNvPicPr>
            <a:picLocks noGrp="1" noChangeAspect="1"/>
          </p:cNvPicPr>
          <p:nvPr>
            <p:ph idx="1"/>
          </p:nvPr>
        </p:nvPicPr>
        <p:blipFill>
          <a:blip r:embed="rId2"/>
          <a:stretch>
            <a:fillRect/>
          </a:stretch>
        </p:blipFill>
        <p:spPr>
          <a:xfrm>
            <a:off x="827088" y="2319986"/>
            <a:ext cx="7533916" cy="4109409"/>
          </a:xfr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IT in Education and Society</a:t>
            </a:r>
            <a:br>
              <a:rPr lang="en-US" b="1"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In Education:</a:t>
            </a:r>
            <a:endParaRPr lang="en-US" dirty="0" smtClean="0"/>
          </a:p>
          <a:p>
            <a:r>
              <a:rPr lang="en-US" dirty="0" smtClean="0"/>
              <a:t>E-learning platforms (</a:t>
            </a:r>
            <a:r>
              <a:rPr lang="en-US" dirty="0" err="1" smtClean="0"/>
              <a:t>Coursera</a:t>
            </a:r>
            <a:r>
              <a:rPr lang="en-US" dirty="0" smtClean="0"/>
              <a:t>, </a:t>
            </a:r>
            <a:r>
              <a:rPr lang="en-US" dirty="0" err="1" smtClean="0"/>
              <a:t>Udemy</a:t>
            </a:r>
            <a:r>
              <a:rPr lang="en-US" dirty="0" smtClean="0"/>
              <a:t>, Khan Academy)</a:t>
            </a:r>
          </a:p>
          <a:p>
            <a:r>
              <a:rPr lang="en-US" dirty="0" smtClean="0"/>
              <a:t>Virtual classrooms and video lectures</a:t>
            </a:r>
          </a:p>
          <a:p>
            <a:r>
              <a:rPr lang="en-US" dirty="0" smtClean="0"/>
              <a:t>Digital libraries and research tools</a:t>
            </a:r>
          </a:p>
          <a:p>
            <a:r>
              <a:rPr lang="en-US" dirty="0" smtClean="0"/>
              <a:t>Online examinations and grading systems</a:t>
            </a:r>
          </a:p>
          <a:p>
            <a:r>
              <a:rPr lang="en-US" b="1" dirty="0" smtClean="0"/>
              <a:t>In Society:</a:t>
            </a:r>
            <a:endParaRPr lang="en-US" dirty="0" smtClean="0"/>
          </a:p>
          <a:p>
            <a:r>
              <a:rPr lang="en-US" dirty="0" smtClean="0"/>
              <a:t>Social media connecting people globally</a:t>
            </a:r>
          </a:p>
          <a:p>
            <a:r>
              <a:rPr lang="en-US" dirty="0" smtClean="0"/>
              <a:t>Digital communication (email, messaging, video calls)</a:t>
            </a:r>
          </a:p>
          <a:p>
            <a:r>
              <a:rPr lang="en-US" dirty="0" smtClean="0"/>
              <a:t>E-government services (online tax filing, digital IDs)</a:t>
            </a:r>
          </a:p>
          <a:p>
            <a:r>
              <a:rPr lang="en-US" dirty="0" smtClean="0"/>
              <a:t>Healthcare IT (telemedicine, electronic health records)</a:t>
            </a:r>
          </a:p>
          <a:p>
            <a:r>
              <a:rPr lang="en-US" dirty="0" smtClean="0"/>
              <a:t>IT creates social awareness and enables global connectivity</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Database Management Systems (DBMS) and SQL</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Definition:</a:t>
            </a:r>
            <a:r>
              <a:rPr lang="en-US" dirty="0" smtClean="0"/>
              <a:t> A Database Management System (DBMS) is software that allows users to create, manage, and interact with databases.</a:t>
            </a:r>
          </a:p>
          <a:p>
            <a:r>
              <a:rPr lang="en-US" b="1" dirty="0" smtClean="0"/>
              <a:t>Popular DBMS Examples:</a:t>
            </a:r>
            <a:endParaRPr lang="en-US" dirty="0" smtClean="0"/>
          </a:p>
          <a:p>
            <a:r>
              <a:rPr lang="en-US" dirty="0" err="1" smtClean="0"/>
              <a:t>MySQL</a:t>
            </a:r>
            <a:r>
              <a:rPr lang="en-US" dirty="0" smtClean="0"/>
              <a:t> (open source, very popular for web apps)</a:t>
            </a:r>
          </a:p>
          <a:p>
            <a:r>
              <a:rPr lang="en-US" dirty="0" smtClean="0"/>
              <a:t>Oracle Database (enterprise-grade)</a:t>
            </a:r>
          </a:p>
          <a:p>
            <a:r>
              <a:rPr lang="en-US" dirty="0" smtClean="0"/>
              <a:t>Microsoft SQL Server (integrates with Microsoft products)</a:t>
            </a:r>
          </a:p>
          <a:p>
            <a:r>
              <a:rPr lang="en-US" dirty="0" err="1" smtClean="0"/>
              <a:t>PostgreSQL</a:t>
            </a:r>
            <a:r>
              <a:rPr lang="en-US" dirty="0" smtClean="0"/>
              <a:t> (advanced open source)</a:t>
            </a:r>
          </a:p>
          <a:p>
            <a:r>
              <a:rPr lang="en-US" dirty="0" err="1" smtClean="0"/>
              <a:t>MongoDB</a:t>
            </a:r>
            <a:r>
              <a:rPr lang="en-US" dirty="0" smtClean="0"/>
              <a:t> (</a:t>
            </a:r>
            <a:r>
              <a:rPr lang="en-US" dirty="0" err="1" smtClean="0"/>
              <a:t>NoSQL</a:t>
            </a:r>
            <a:r>
              <a:rPr lang="en-US" dirty="0" smtClean="0"/>
              <a:t> database)</a:t>
            </a:r>
          </a:p>
          <a:p>
            <a:r>
              <a:rPr lang="en-US" b="1" dirty="0" smtClean="0"/>
              <a:t>SQL (Structured Query Language):</a:t>
            </a:r>
            <a:r>
              <a:rPr lang="en-US" dirty="0" smtClean="0"/>
              <a:t> The standard language for managing databases.</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Waterfall </a:t>
            </a:r>
            <a:r>
              <a:rPr lang="en-US" b="1" dirty="0" smtClean="0"/>
              <a:t>Methodology</a:t>
            </a:r>
            <a:endParaRPr lang="en-US" dirty="0"/>
          </a:p>
        </p:txBody>
      </p:sp>
      <p:sp>
        <p:nvSpPr>
          <p:cNvPr id="3" name="Content Placeholder 2"/>
          <p:cNvSpPr>
            <a:spLocks noGrp="1"/>
          </p:cNvSpPr>
          <p:nvPr>
            <p:ph idx="1"/>
          </p:nvPr>
        </p:nvSpPr>
        <p:spPr>
          <a:xfrm>
            <a:off x="357158" y="1214422"/>
            <a:ext cx="8429684" cy="5357849"/>
          </a:xfrm>
        </p:spPr>
        <p:txBody>
          <a:bodyPr>
            <a:normAutofit fontScale="92500" lnSpcReduction="20000"/>
          </a:bodyPr>
          <a:lstStyle/>
          <a:p>
            <a:r>
              <a:rPr lang="en-US" b="1" dirty="0" smtClean="0"/>
              <a:t>Approach:</a:t>
            </a:r>
            <a:r>
              <a:rPr lang="en-US" dirty="0" smtClean="0"/>
              <a:t> A linear, sequential process where each phase must be completed before the next begins.</a:t>
            </a:r>
          </a:p>
          <a:p>
            <a:r>
              <a:rPr lang="en-US" b="1" dirty="0" smtClean="0"/>
              <a:t>Phases:</a:t>
            </a:r>
            <a:endParaRPr lang="en-US" dirty="0" smtClean="0"/>
          </a:p>
          <a:p>
            <a:r>
              <a:rPr lang="en-US" dirty="0" smtClean="0"/>
              <a:t>Requirements Gathering</a:t>
            </a:r>
          </a:p>
          <a:p>
            <a:r>
              <a:rPr lang="en-US" dirty="0" smtClean="0"/>
              <a:t>Design</a:t>
            </a:r>
          </a:p>
          <a:p>
            <a:r>
              <a:rPr lang="en-US" dirty="0" smtClean="0"/>
              <a:t>Implementation (Development)</a:t>
            </a:r>
          </a:p>
          <a:p>
            <a:r>
              <a:rPr lang="en-US" dirty="0" smtClean="0"/>
              <a:t>Verification (Testing)</a:t>
            </a:r>
          </a:p>
          <a:p>
            <a:r>
              <a:rPr lang="en-US" dirty="0" smtClean="0"/>
              <a:t>Maintenance</a:t>
            </a:r>
          </a:p>
          <a:p>
            <a:r>
              <a:rPr lang="en-US" b="1" dirty="0" smtClean="0"/>
              <a:t>Best for:</a:t>
            </a:r>
            <a:r>
              <a:rPr lang="en-US" dirty="0" smtClean="0"/>
              <a:t> Projects with stable, well-defined requirements from the start.</a:t>
            </a:r>
          </a:p>
          <a:p>
            <a:r>
              <a:rPr lang="en-US" b="1" dirty="0" smtClean="0"/>
              <a:t>BA Role in Waterfall:</a:t>
            </a:r>
            <a:endParaRPr lang="en-US" dirty="0" smtClean="0"/>
          </a:p>
          <a:p>
            <a:r>
              <a:rPr lang="en-US" dirty="0" smtClean="0"/>
              <a:t>Gather complete requirements at the beginning</a:t>
            </a:r>
          </a:p>
          <a:p>
            <a:r>
              <a:rPr lang="en-US" dirty="0" smtClean="0"/>
              <a:t>Prepare detailed documentation (BRD, SRS, Use Cases)</a:t>
            </a:r>
          </a:p>
          <a:p>
            <a:r>
              <a:rPr lang="en-US" dirty="0" smtClean="0"/>
              <a:t>Get sign-off from stakeholders before development starts</a:t>
            </a:r>
          </a:p>
          <a:p>
            <a:r>
              <a:rPr lang="en-US" dirty="0" smtClean="0"/>
              <a:t>Limited scope for changes later</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Agile </a:t>
            </a:r>
            <a:r>
              <a:rPr lang="en-US" b="1" dirty="0" smtClean="0"/>
              <a:t>Methodology</a:t>
            </a:r>
            <a:r>
              <a:rPr lang="en-US" dirty="0" smtClean="0"/>
              <a:t>: Iterative and Flexible</a:t>
            </a:r>
            <a:endParaRPr lang="en-US" dirty="0"/>
          </a:p>
        </p:txBody>
      </p:sp>
      <p:sp>
        <p:nvSpPr>
          <p:cNvPr id="3" name="Content Placeholder 2"/>
          <p:cNvSpPr>
            <a:spLocks noGrp="1"/>
          </p:cNvSpPr>
          <p:nvPr>
            <p:ph idx="1"/>
          </p:nvPr>
        </p:nvSpPr>
        <p:spPr>
          <a:xfrm>
            <a:off x="285720" y="2052925"/>
            <a:ext cx="8358246" cy="4519347"/>
          </a:xfrm>
        </p:spPr>
        <p:txBody>
          <a:bodyPr>
            <a:normAutofit fontScale="85000" lnSpcReduction="20000"/>
          </a:bodyPr>
          <a:lstStyle/>
          <a:p>
            <a:r>
              <a:rPr lang="en-US" b="1" dirty="0" smtClean="0"/>
              <a:t>Approach:</a:t>
            </a:r>
            <a:r>
              <a:rPr lang="en-US" dirty="0" smtClean="0"/>
              <a:t> An iterative, incremental approach focusing on flexibility, collaboration, and responding to change.</a:t>
            </a:r>
          </a:p>
          <a:p>
            <a:r>
              <a:rPr lang="en-US" b="1" dirty="0" smtClean="0"/>
              <a:t>Key Principles:</a:t>
            </a:r>
            <a:endParaRPr lang="en-US" dirty="0" smtClean="0"/>
          </a:p>
          <a:p>
            <a:r>
              <a:rPr lang="en-US" dirty="0" smtClean="0"/>
              <a:t>Embraces feedback and changing requirements</a:t>
            </a:r>
          </a:p>
          <a:p>
            <a:r>
              <a:rPr lang="en-US" dirty="0" smtClean="0"/>
              <a:t>Breaks work into small pieces (user stories)</a:t>
            </a:r>
          </a:p>
          <a:p>
            <a:r>
              <a:rPr lang="en-US" dirty="0" smtClean="0"/>
              <a:t>Uses short, time-boxed cycles called </a:t>
            </a:r>
            <a:r>
              <a:rPr lang="en-US" b="1" dirty="0" smtClean="0"/>
              <a:t>sprints</a:t>
            </a:r>
            <a:r>
              <a:rPr lang="en-US" dirty="0" smtClean="0"/>
              <a:t> (1-4 weeks)</a:t>
            </a:r>
          </a:p>
          <a:p>
            <a:r>
              <a:rPr lang="en-US" dirty="0" smtClean="0"/>
              <a:t>Delivers working software continuously</a:t>
            </a:r>
          </a:p>
          <a:p>
            <a:r>
              <a:rPr lang="en-US" b="1" dirty="0" smtClean="0"/>
              <a:t>Popular Frameworks:</a:t>
            </a:r>
            <a:r>
              <a:rPr lang="en-US" dirty="0" smtClean="0"/>
              <a:t> Scrum, </a:t>
            </a:r>
            <a:r>
              <a:rPr lang="en-US" dirty="0" err="1" smtClean="0"/>
              <a:t>Kanban</a:t>
            </a:r>
            <a:r>
              <a:rPr lang="en-US" dirty="0" smtClean="0"/>
              <a:t>, Lean, XP (Extreme Programming)</a:t>
            </a:r>
          </a:p>
          <a:p>
            <a:r>
              <a:rPr lang="en-US" b="1" dirty="0" smtClean="0"/>
              <a:t>Best for:</a:t>
            </a:r>
            <a:r>
              <a:rPr lang="en-US" dirty="0" smtClean="0"/>
              <a:t> Projects where requirements may evolve or change, and continuous feedback is valuable.</a:t>
            </a:r>
          </a:p>
          <a:p>
            <a:r>
              <a:rPr lang="en-US" b="1" dirty="0" smtClean="0"/>
              <a:t>BA Role in Agile:</a:t>
            </a:r>
            <a:endParaRPr lang="en-US" dirty="0" smtClean="0"/>
          </a:p>
          <a:p>
            <a:r>
              <a:rPr lang="en-US" dirty="0" smtClean="0"/>
              <a:t>Works continuously with stakeholders</a:t>
            </a:r>
          </a:p>
          <a:p>
            <a:r>
              <a:rPr lang="en-US" dirty="0" smtClean="0"/>
              <a:t>Refines requirements each sprint</a:t>
            </a:r>
          </a:p>
          <a:p>
            <a:r>
              <a:rPr lang="en-US" dirty="0" smtClean="0"/>
              <a:t>Participates in daily stand-ups, sprint planning, and reviews</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Waterfall </a:t>
            </a:r>
            <a:r>
              <a:rPr lang="en-US" b="1" dirty="0" err="1" smtClean="0"/>
              <a:t>vs</a:t>
            </a:r>
            <a:r>
              <a:rPr lang="en-US" b="1" dirty="0" smtClean="0"/>
              <a:t> Agile – Key Differences</a:t>
            </a:r>
            <a:br>
              <a:rPr lang="en-US" b="1" dirty="0" smtClean="0"/>
            </a:br>
            <a:endParaRPr lang="en-US" dirty="0"/>
          </a:p>
        </p:txBody>
      </p:sp>
      <p:pic>
        <p:nvPicPr>
          <p:cNvPr id="4" name="Content Placeholder 3" descr="Gemini_Generated_Image_pb28sipb28sipb28.png"/>
          <p:cNvPicPr>
            <a:picLocks noGrp="1" noChangeAspect="1"/>
          </p:cNvPicPr>
          <p:nvPr>
            <p:ph idx="1"/>
          </p:nvPr>
        </p:nvPicPr>
        <p:blipFill>
          <a:blip r:embed="rId2"/>
          <a:stretch>
            <a:fillRect/>
          </a:stretch>
        </p:blipFill>
        <p:spPr>
          <a:xfrm>
            <a:off x="357158" y="1928802"/>
            <a:ext cx="8429684" cy="4732869"/>
          </a:xfr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When to Use </a:t>
            </a:r>
            <a:r>
              <a:rPr lang="en-US" b="1" dirty="0" smtClean="0"/>
              <a:t>Waterfall</a:t>
            </a:r>
            <a:endParaRPr lang="en-US" dirty="0"/>
          </a:p>
        </p:txBody>
      </p:sp>
      <p:sp>
        <p:nvSpPr>
          <p:cNvPr id="3" name="Content Placeholder 2"/>
          <p:cNvSpPr>
            <a:spLocks noGrp="1"/>
          </p:cNvSpPr>
          <p:nvPr>
            <p:ph idx="1"/>
          </p:nvPr>
        </p:nvSpPr>
        <p:spPr>
          <a:xfrm>
            <a:off x="357158" y="1214422"/>
            <a:ext cx="8286808" cy="5357849"/>
          </a:xfrm>
        </p:spPr>
        <p:txBody>
          <a:bodyPr>
            <a:normAutofit/>
          </a:bodyPr>
          <a:lstStyle/>
          <a:p>
            <a:r>
              <a:rPr lang="en-US" dirty="0" smtClean="0"/>
              <a:t>Use Waterfall when:</a:t>
            </a:r>
          </a:p>
          <a:p>
            <a:r>
              <a:rPr lang="en-US" dirty="0" smtClean="0"/>
              <a:t> </a:t>
            </a:r>
            <a:r>
              <a:rPr lang="en-US" dirty="0" smtClean="0"/>
              <a:t>Requirements are clear and stable – the project has a well-defined scope from the start</a:t>
            </a:r>
          </a:p>
          <a:p>
            <a:r>
              <a:rPr lang="en-US" dirty="0" smtClean="0"/>
              <a:t>The </a:t>
            </a:r>
            <a:r>
              <a:rPr lang="en-US" dirty="0" smtClean="0"/>
              <a:t>project is straightforward and uncomplicated – a linear approach works well</a:t>
            </a:r>
          </a:p>
          <a:p>
            <a:r>
              <a:rPr lang="en-US" dirty="0" smtClean="0"/>
              <a:t> </a:t>
            </a:r>
            <a:r>
              <a:rPr lang="en-US" dirty="0" smtClean="0"/>
              <a:t>Strict documentation and regulatory compliance are required – Waterfall's structured phases support thorough documentation</a:t>
            </a:r>
          </a:p>
          <a:p>
            <a:r>
              <a:rPr lang="en-US" dirty="0" smtClean="0"/>
              <a:t>Customer </a:t>
            </a:r>
            <a:r>
              <a:rPr lang="en-US" dirty="0" smtClean="0"/>
              <a:t>involvement is limited – client input is primarily at the beginning and end</a:t>
            </a:r>
          </a:p>
          <a:p>
            <a:r>
              <a:rPr lang="en-US" dirty="0" smtClean="0"/>
              <a:t> </a:t>
            </a:r>
            <a:r>
              <a:rPr lang="en-US" dirty="0" smtClean="0"/>
              <a:t>A fixed schedule and budget are the main drivers – Waterfall's structure allows for a clear upfront plan</a:t>
            </a:r>
          </a:p>
          <a:p>
            <a:r>
              <a:rPr lang="en-US" b="1" dirty="0" smtClean="0"/>
              <a:t>Example Industries:</a:t>
            </a:r>
            <a:r>
              <a:rPr lang="en-US" dirty="0" smtClean="0"/>
              <a:t> Construction, manufacturing, government contracts, banking systems</a:t>
            </a:r>
          </a:p>
          <a:p>
            <a:pPr>
              <a:buNone/>
            </a:pP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When to Use Agile</a:t>
            </a:r>
            <a:endParaRPr lang="en-US" b="1" dirty="0"/>
          </a:p>
        </p:txBody>
      </p:sp>
      <p:sp>
        <p:nvSpPr>
          <p:cNvPr id="3" name="Content Placeholder 2"/>
          <p:cNvSpPr>
            <a:spLocks noGrp="1"/>
          </p:cNvSpPr>
          <p:nvPr>
            <p:ph idx="1"/>
          </p:nvPr>
        </p:nvSpPr>
        <p:spPr/>
        <p:txBody>
          <a:bodyPr>
            <a:normAutofit fontScale="85000" lnSpcReduction="10000"/>
          </a:bodyPr>
          <a:lstStyle/>
          <a:p>
            <a:r>
              <a:rPr lang="en-US" dirty="0" smtClean="0"/>
              <a:t>Use Agile when:</a:t>
            </a:r>
          </a:p>
          <a:p>
            <a:r>
              <a:rPr lang="en-US" dirty="0" smtClean="0"/>
              <a:t> </a:t>
            </a:r>
            <a:r>
              <a:rPr lang="en-US" dirty="0" smtClean="0"/>
              <a:t>Requirements are likely to change – </a:t>
            </a:r>
            <a:r>
              <a:rPr lang="en-US" dirty="0" err="1" smtClean="0"/>
              <a:t>Agile's</a:t>
            </a:r>
            <a:r>
              <a:rPr lang="en-US" dirty="0" smtClean="0"/>
              <a:t> flexible, iterative approach is ideal for evolving needs</a:t>
            </a:r>
          </a:p>
          <a:p>
            <a:r>
              <a:rPr lang="en-US" dirty="0" smtClean="0"/>
              <a:t>Fast </a:t>
            </a:r>
            <a:r>
              <a:rPr lang="en-US" dirty="0" smtClean="0"/>
              <a:t>delivery is a priority – allows for incremental releases of functional parts</a:t>
            </a:r>
          </a:p>
          <a:p>
            <a:r>
              <a:rPr lang="en-US" dirty="0" smtClean="0"/>
              <a:t>Customer </a:t>
            </a:r>
            <a:r>
              <a:rPr lang="en-US" dirty="0" smtClean="0"/>
              <a:t>feedback is crucial – continuous collaboration and feedback loops are built in</a:t>
            </a:r>
          </a:p>
          <a:p>
            <a:r>
              <a:rPr lang="en-US" dirty="0" smtClean="0"/>
              <a:t> </a:t>
            </a:r>
            <a:r>
              <a:rPr lang="en-US" dirty="0" smtClean="0"/>
              <a:t>The project is complex or uncertain – accommodates innovation and emerging technologies</a:t>
            </a:r>
          </a:p>
          <a:p>
            <a:r>
              <a:rPr lang="en-US" dirty="0" smtClean="0"/>
              <a:t> </a:t>
            </a:r>
            <a:r>
              <a:rPr lang="en-US" dirty="0" smtClean="0"/>
              <a:t>Cross-functional teams work collaboratively – developers, designers, and testers work together in cycles</a:t>
            </a:r>
          </a:p>
          <a:p>
            <a:r>
              <a:rPr lang="en-US" b="1" dirty="0" smtClean="0"/>
              <a:t>Example Industries:</a:t>
            </a:r>
            <a:r>
              <a:rPr lang="en-US" dirty="0" smtClean="0"/>
              <a:t> Software development, mobile apps, startups, digital marketing, AI/ML projects</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Stakeholder Management?</a:t>
            </a:r>
            <a:endParaRPr lang="en-US" b="1" dirty="0"/>
          </a:p>
        </p:txBody>
      </p:sp>
      <p:sp>
        <p:nvSpPr>
          <p:cNvPr id="3" name="Content Placeholder 2"/>
          <p:cNvSpPr>
            <a:spLocks noGrp="1"/>
          </p:cNvSpPr>
          <p:nvPr>
            <p:ph idx="1"/>
          </p:nvPr>
        </p:nvSpPr>
        <p:spPr/>
        <p:txBody>
          <a:bodyPr/>
          <a:lstStyle/>
          <a:p>
            <a:r>
              <a:rPr lang="en-US" b="1" dirty="0" smtClean="0"/>
              <a:t>Definition:</a:t>
            </a:r>
            <a:r>
              <a:rPr lang="en-US" dirty="0" smtClean="0"/>
              <a:t> Stakeholder management is the process of identifying, analyzing, and engaging with individuals, groups, or organizations that can affect or are affected by a project or business.</a:t>
            </a:r>
          </a:p>
          <a:p>
            <a:r>
              <a:rPr lang="en-US" b="1" dirty="0" smtClean="0"/>
              <a:t>Goal:</a:t>
            </a:r>
            <a:r>
              <a:rPr lang="en-US" dirty="0" smtClean="0"/>
              <a:t> Manage stakeholders' interests and expectations to ensure the initiative's success by building positive relationships and trust.</a:t>
            </a:r>
          </a:p>
          <a:p>
            <a:pPr>
              <a:buNone/>
            </a:pP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Stakeholder Management?</a:t>
            </a:r>
            <a:endParaRPr lang="en-US" b="1" dirty="0"/>
          </a:p>
        </p:txBody>
      </p:sp>
      <p:pic>
        <p:nvPicPr>
          <p:cNvPr id="4" name="Content Placeholder 3" descr="ChatGPT Image May 5, 2026, 09_06_35 PM.png"/>
          <p:cNvPicPr>
            <a:picLocks noGrp="1" noChangeAspect="1"/>
          </p:cNvPicPr>
          <p:nvPr>
            <p:ph idx="1"/>
          </p:nvPr>
        </p:nvPicPr>
        <p:blipFill>
          <a:blip r:embed="rId2"/>
          <a:stretch>
            <a:fillRect/>
          </a:stretch>
        </p:blipFill>
        <p:spPr>
          <a:xfrm>
            <a:off x="357159" y="1857364"/>
            <a:ext cx="8501122" cy="4886088"/>
          </a:xfr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Benefits of Stakeholder Management</a:t>
            </a:r>
            <a:endParaRPr lang="en-US" b="1" dirty="0"/>
          </a:p>
        </p:txBody>
      </p:sp>
      <p:sp>
        <p:nvSpPr>
          <p:cNvPr id="3" name="Content Placeholder 2"/>
          <p:cNvSpPr>
            <a:spLocks noGrp="1"/>
          </p:cNvSpPr>
          <p:nvPr>
            <p:ph idx="1"/>
          </p:nvPr>
        </p:nvSpPr>
        <p:spPr>
          <a:xfrm>
            <a:off x="214282" y="1785927"/>
            <a:ext cx="8572560" cy="4857784"/>
          </a:xfrm>
        </p:spPr>
        <p:txBody>
          <a:bodyPr>
            <a:normAutofit fontScale="70000" lnSpcReduction="20000"/>
          </a:bodyPr>
          <a:lstStyle/>
          <a:p>
            <a:r>
              <a:rPr lang="en-US" b="1" dirty="0" smtClean="0"/>
              <a:t>Relationship &amp; Trust Benefits:</a:t>
            </a:r>
            <a:endParaRPr lang="en-US" dirty="0" smtClean="0"/>
          </a:p>
          <a:p>
            <a:r>
              <a:rPr lang="en-US" b="1" dirty="0" smtClean="0"/>
              <a:t>Builds trust and confidence:</a:t>
            </a:r>
            <a:r>
              <a:rPr lang="en-US" dirty="0" smtClean="0"/>
              <a:t> Transparent communication demonstrates commitment to stakeholders' needs</a:t>
            </a:r>
          </a:p>
          <a:p>
            <a:r>
              <a:rPr lang="en-US" b="1" dirty="0" smtClean="0"/>
              <a:t>Strengthens relationships:</a:t>
            </a:r>
            <a:r>
              <a:rPr lang="en-US" dirty="0" smtClean="0"/>
              <a:t> Proactive engagement builds strong partnerships</a:t>
            </a:r>
          </a:p>
          <a:p>
            <a:r>
              <a:rPr lang="en-US" b="1" dirty="0" smtClean="0"/>
              <a:t>Manages expectations:</a:t>
            </a:r>
            <a:r>
              <a:rPr lang="en-US" dirty="0" smtClean="0"/>
              <a:t> Structured approach ensures realistic expectations, increasing satisfaction</a:t>
            </a:r>
          </a:p>
          <a:p>
            <a:r>
              <a:rPr lang="en-US" b="1" dirty="0" smtClean="0"/>
              <a:t>Strategic &amp; Competitive Benefits:</a:t>
            </a:r>
            <a:endParaRPr lang="en-US" dirty="0" smtClean="0"/>
          </a:p>
          <a:p>
            <a:r>
              <a:rPr lang="en-US" b="1" dirty="0" smtClean="0"/>
              <a:t>Provides competitive advantage:</a:t>
            </a:r>
            <a:r>
              <a:rPr lang="en-US" dirty="0" smtClean="0"/>
              <a:t> Understanding stakeholder interests uncovers innovation opportunities</a:t>
            </a:r>
          </a:p>
          <a:p>
            <a:r>
              <a:rPr lang="en-US" b="1" dirty="0" smtClean="0"/>
              <a:t>Enhances reputation:</a:t>
            </a:r>
            <a:r>
              <a:rPr lang="en-US" dirty="0" smtClean="0"/>
              <a:t> Proactive stakeholder management improves company reputation</a:t>
            </a:r>
          </a:p>
          <a:p>
            <a:r>
              <a:rPr lang="en-US" b="1" dirty="0" smtClean="0"/>
              <a:t>Offers business intelligence:</a:t>
            </a:r>
            <a:r>
              <a:rPr lang="en-US" dirty="0" smtClean="0"/>
              <a:t> Insights from stakeholders lead to new product or service ideas</a:t>
            </a:r>
          </a:p>
          <a:p>
            <a:r>
              <a:rPr lang="en-US" b="1" dirty="0" smtClean="0"/>
              <a:t>Project Success Benefits:</a:t>
            </a:r>
            <a:endParaRPr lang="en-US" dirty="0" smtClean="0"/>
          </a:p>
          <a:p>
            <a:r>
              <a:rPr lang="en-US" b="1" dirty="0" smtClean="0"/>
              <a:t>Comprehensive requirements:</a:t>
            </a:r>
            <a:r>
              <a:rPr lang="en-US" dirty="0" smtClean="0"/>
              <a:t> Working with diverse stakeholders uncovers all necessary information</a:t>
            </a:r>
          </a:p>
          <a:p>
            <a:r>
              <a:rPr lang="en-US" b="1" dirty="0" smtClean="0"/>
              <a:t>Increased buy-in:</a:t>
            </a:r>
            <a:r>
              <a:rPr lang="en-US" dirty="0" smtClean="0"/>
              <a:t> Involving stakeholders makes them feel heard, increasing support for final solution</a:t>
            </a:r>
          </a:p>
          <a:p>
            <a:r>
              <a:rPr lang="en-US" b="1" dirty="0" smtClean="0"/>
              <a:t>Risk mitigation:</a:t>
            </a:r>
            <a:r>
              <a:rPr lang="en-US" dirty="0" smtClean="0"/>
              <a:t> Open communication helps identify potential issues early</a:t>
            </a:r>
          </a:p>
          <a:p>
            <a:r>
              <a:rPr lang="en-US" b="1" dirty="0" smtClean="0"/>
              <a:t>Faster decision making:</a:t>
            </a:r>
            <a:r>
              <a:rPr lang="en-US" dirty="0" smtClean="0"/>
              <a:t> Trusting relationships allow for efficient conflict </a:t>
            </a:r>
            <a:r>
              <a:rPr lang="en-US" dirty="0" smtClean="0"/>
              <a:t>resolution</a:t>
            </a: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BUSINESS STRATEGY &amp; IT ALIGNMENT </a:t>
            </a:r>
            <a:endParaRPr lang="en-US" b="1" dirty="0"/>
          </a:p>
        </p:txBody>
      </p:sp>
      <p:sp>
        <p:nvSpPr>
          <p:cNvPr id="3" name="Content Placeholder 2"/>
          <p:cNvSpPr>
            <a:spLocks noGrp="1"/>
          </p:cNvSpPr>
          <p:nvPr>
            <p:ph idx="1"/>
          </p:nvPr>
        </p:nvSpPr>
        <p:spPr/>
        <p:txBody>
          <a:bodyPr>
            <a:normAutofit lnSpcReduction="10000"/>
          </a:bodyPr>
          <a:lstStyle/>
          <a:p>
            <a:r>
              <a:rPr lang="en-US" b="1" dirty="0" smtClean="0"/>
              <a:t>Business Strategy is created</a:t>
            </a:r>
            <a:r>
              <a:rPr lang="en-US" dirty="0" smtClean="0"/>
              <a:t> – Organization defines goals, direction, and competitive </a:t>
            </a:r>
            <a:r>
              <a:rPr lang="en-US" dirty="0" smtClean="0"/>
              <a:t>approach</a:t>
            </a:r>
            <a:endParaRPr lang="en-US" b="1" dirty="0" smtClean="0"/>
          </a:p>
          <a:p>
            <a:r>
              <a:rPr lang="en-US" b="1" dirty="0" smtClean="0"/>
              <a:t>IT </a:t>
            </a:r>
            <a:r>
              <a:rPr lang="en-US" b="1" dirty="0" smtClean="0"/>
              <a:t>Strategy is designed</a:t>
            </a:r>
            <a:r>
              <a:rPr lang="en-US" dirty="0" smtClean="0"/>
              <a:t> – Technology plan is built to support business </a:t>
            </a:r>
            <a:r>
              <a:rPr lang="en-US" dirty="0" smtClean="0"/>
              <a:t>strategy</a:t>
            </a:r>
            <a:endParaRPr lang="en-US" b="1" dirty="0" smtClean="0"/>
          </a:p>
          <a:p>
            <a:r>
              <a:rPr lang="en-US" b="1" dirty="0" smtClean="0"/>
              <a:t>Alignment </a:t>
            </a:r>
            <a:r>
              <a:rPr lang="en-US" b="1" dirty="0" smtClean="0"/>
              <a:t>Capability ensures connection</a:t>
            </a:r>
            <a:r>
              <a:rPr lang="en-US" dirty="0" smtClean="0"/>
              <a:t> – Regular reviews and communication keep both strategies </a:t>
            </a:r>
            <a:r>
              <a:rPr lang="en-US" dirty="0" smtClean="0"/>
              <a:t>coordinated</a:t>
            </a:r>
            <a:endParaRPr lang="en-US" b="1" dirty="0" smtClean="0"/>
          </a:p>
          <a:p>
            <a:r>
              <a:rPr lang="en-US" b="1" dirty="0" smtClean="0"/>
              <a:t>IT </a:t>
            </a:r>
            <a:r>
              <a:rPr lang="en-US" b="1" dirty="0" smtClean="0"/>
              <a:t>improves business performance</a:t>
            </a:r>
            <a:r>
              <a:rPr lang="en-US" dirty="0" smtClean="0"/>
              <a:t> – Technology enables efficiency, innovation, and growth</a:t>
            </a:r>
            <a:r>
              <a:rPr lang="en-US" b="1" dirty="0" smtClean="0"/>
              <a:t>5Shapes future business strategy</a:t>
            </a:r>
            <a:r>
              <a:rPr lang="en-US" dirty="0" smtClean="0"/>
              <a:t> – Successful IT implementation opens new strategic possibilities</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857224" y="3786190"/>
            <a:ext cx="6620968" cy="2071702"/>
          </a:xfrm>
        </p:spPr>
        <p:txBody>
          <a:bodyPr/>
          <a:lstStyle/>
          <a:p>
            <a:r>
              <a:rPr lang="en-US" b="1" dirty="0" smtClean="0"/>
              <a:t>Introduction to the Business Analyst (BA) Role </a:t>
            </a:r>
            <a:br>
              <a:rPr lang="en-US" b="1" dirty="0" smtClean="0"/>
            </a:br>
            <a:endParaRPr lang="en-US" dirty="0"/>
          </a:p>
        </p:txBody>
      </p:sp>
      <p:sp>
        <p:nvSpPr>
          <p:cNvPr id="3" name="Content Placeholder 2"/>
          <p:cNvSpPr>
            <a:spLocks noGrp="1"/>
          </p:cNvSpPr>
          <p:nvPr>
            <p:ph type="subTitle" idx="1"/>
          </p:nvPr>
        </p:nvSpPr>
        <p:spPr/>
        <p:txBody>
          <a:bodyPr>
            <a:normAutofit fontScale="85000" lnSpcReduction="20000"/>
          </a:bodyPr>
          <a:lstStyle/>
          <a:p>
            <a:r>
              <a:rPr lang="en-US" b="1" dirty="0" smtClean="0">
                <a:effectLst>
                  <a:outerShdw blurRad="38100" dist="38100" dir="2700000" algn="tl">
                    <a:srgbClr val="000000">
                      <a:alpha val="43137"/>
                    </a:srgbClr>
                  </a:outerShdw>
                </a:effectLst>
              </a:rPr>
              <a:t>The Business Analyst (BA)</a:t>
            </a:r>
            <a:endParaRPr lang="en-US" dirty="0" smtClean="0"/>
          </a:p>
          <a:p>
            <a:r>
              <a:rPr lang="en-US" dirty="0" smtClean="0"/>
              <a:t>The Critical Bridge Between Business Needs and IT Solutions</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Agenda for Introduction to the Business Analyst (BA) Role </a:t>
            </a:r>
            <a:br>
              <a:rPr lang="en-US" b="1" dirty="0" smtClean="0"/>
            </a:br>
            <a:endParaRPr lang="en-US" b="1" dirty="0"/>
          </a:p>
        </p:txBody>
      </p:sp>
      <p:sp>
        <p:nvSpPr>
          <p:cNvPr id="3" name="Content Placeholder 2"/>
          <p:cNvSpPr>
            <a:spLocks noGrp="1"/>
          </p:cNvSpPr>
          <p:nvPr>
            <p:ph idx="1"/>
          </p:nvPr>
        </p:nvSpPr>
        <p:spPr>
          <a:xfrm>
            <a:off x="785786" y="2643182"/>
            <a:ext cx="6711654" cy="3571900"/>
          </a:xfrm>
        </p:spPr>
        <p:txBody>
          <a:bodyPr/>
          <a:lstStyle/>
          <a:p>
            <a:r>
              <a:rPr lang="en-US" dirty="0" smtClean="0"/>
              <a:t>What Does a Business Analyst Do?</a:t>
            </a:r>
          </a:p>
          <a:p>
            <a:r>
              <a:rPr lang="en-US" dirty="0" smtClean="0"/>
              <a:t>The BA as a "Change Agent"</a:t>
            </a:r>
          </a:p>
          <a:p>
            <a:r>
              <a:rPr lang="en-US" dirty="0" smtClean="0"/>
              <a:t>Core Competencies of a Successful BA</a:t>
            </a:r>
          </a:p>
          <a:p>
            <a:r>
              <a:rPr lang="en-US" dirty="0" smtClean="0"/>
              <a:t>Key Deliverables and Artifacts</a:t>
            </a:r>
          </a:p>
          <a:p>
            <a:r>
              <a:rPr lang="en-US" dirty="0" smtClean="0"/>
              <a:t>From Information to Knowledge to Action</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Defining the Business Analyst Role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Definition:</a:t>
            </a:r>
            <a:r>
              <a:rPr lang="en-US" dirty="0" smtClean="0"/>
              <a:t> A business analyst is a professional who acts as a liaison between stakeholders (business leaders, users) and the technical team (developers, IT) to understand the business's problems, needs, and goals.</a:t>
            </a:r>
          </a:p>
          <a:p>
            <a:r>
              <a:rPr lang="en-US" b="1" dirty="0" smtClean="0"/>
              <a:t>Primary Focus:</a:t>
            </a:r>
            <a:r>
              <a:rPr lang="en-US" dirty="0" smtClean="0"/>
              <a:t> To recommend solutions that deliver value to the organization. The solution could be a new process, a software feature, or an organizational change.</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The BA as a "Bridge</a:t>
            </a:r>
            <a:endParaRPr lang="en-US" dirty="0"/>
          </a:p>
        </p:txBody>
      </p:sp>
      <p:sp>
        <p:nvSpPr>
          <p:cNvPr id="3" name="Content Placeholder 2"/>
          <p:cNvSpPr>
            <a:spLocks noGrp="1"/>
          </p:cNvSpPr>
          <p:nvPr>
            <p:ph idx="1"/>
          </p:nvPr>
        </p:nvSpPr>
        <p:spPr/>
        <p:txBody>
          <a:bodyPr/>
          <a:lstStyle/>
          <a:p>
            <a:r>
              <a:rPr lang="en-US" b="1" dirty="0" smtClean="0"/>
              <a:t>Without a BA:</a:t>
            </a:r>
            <a:r>
              <a:rPr lang="en-US" dirty="0" smtClean="0"/>
              <a:t> Business needs are often communicated poorly to IT, leading to a final product that does not solve the real problem, wasted time, and budget overruns.</a:t>
            </a:r>
          </a:p>
          <a:p>
            <a:r>
              <a:rPr lang="en-US" b="1" dirty="0" smtClean="0"/>
              <a:t>With a BA:</a:t>
            </a:r>
            <a:r>
              <a:rPr lang="en-US" dirty="0" smtClean="0"/>
              <a:t> The BA translates business problems into clear, actionable technical requirements. They also translate technical constraints back to business stakeholders. This ensures everyone is aligned.</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 Key Responsibility #1: Elicitation</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Eliciting Requirements:</a:t>
            </a:r>
            <a:r>
              <a:rPr lang="en-US" dirty="0" smtClean="0"/>
              <a:t> The process of researching and discovering the true needs of stakeholders, not just their stated requests.</a:t>
            </a:r>
          </a:p>
          <a:p>
            <a:r>
              <a:rPr lang="en-US" b="1" dirty="0" smtClean="0"/>
              <a:t>Techniques:</a:t>
            </a:r>
            <a:endParaRPr lang="en-US" dirty="0" smtClean="0"/>
          </a:p>
          <a:p>
            <a:pPr lvl="1"/>
            <a:r>
              <a:rPr lang="en-US" dirty="0" smtClean="0"/>
              <a:t>Conducting one-on-one interviews and running workshops.</a:t>
            </a:r>
          </a:p>
          <a:p>
            <a:pPr lvl="1"/>
            <a:r>
              <a:rPr lang="en-US" dirty="0" smtClean="0"/>
              <a:t>Sending surveys and questionnaires.</a:t>
            </a:r>
          </a:p>
          <a:p>
            <a:pPr lvl="1"/>
            <a:r>
              <a:rPr lang="en-US" dirty="0" smtClean="0"/>
              <a:t>Observing users in their daily work.</a:t>
            </a:r>
          </a:p>
          <a:p>
            <a:pPr lvl="1"/>
            <a:r>
              <a:rPr lang="en-US" dirty="0" smtClean="0"/>
              <a:t>Analyzing existing process flows and data.</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Key Responsibility #2: Analysis &amp; Documentation</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US" b="1" dirty="0" smtClean="0"/>
              <a:t>Analysis:</a:t>
            </a:r>
            <a:r>
              <a:rPr lang="en-US" dirty="0" smtClean="0"/>
              <a:t> Breaking down the elicited information to understand the core problem, identify inconsistencies, and find viable solution options.</a:t>
            </a:r>
          </a:p>
          <a:p>
            <a:r>
              <a:rPr lang="en-US" b="1" dirty="0" smtClean="0"/>
              <a:t>Documentation:</a:t>
            </a:r>
            <a:r>
              <a:rPr lang="en-US" dirty="0" smtClean="0"/>
              <a:t> Creating clear, unambiguous artifacts that guide the technical team.</a:t>
            </a:r>
          </a:p>
          <a:p>
            <a:r>
              <a:rPr lang="en-US" b="1" dirty="0" smtClean="0"/>
              <a:t>Common Artifacts:</a:t>
            </a:r>
            <a:endParaRPr lang="en-US" dirty="0" smtClean="0"/>
          </a:p>
          <a:p>
            <a:pPr lvl="1"/>
            <a:r>
              <a:rPr lang="en-US" b="1" dirty="0" smtClean="0"/>
              <a:t>Business Requirements Document (BRD):</a:t>
            </a:r>
            <a:r>
              <a:rPr lang="en-US" dirty="0" smtClean="0"/>
              <a:t> High-level goals.</a:t>
            </a:r>
          </a:p>
          <a:p>
            <a:pPr lvl="1"/>
            <a:r>
              <a:rPr lang="en-US" b="1" dirty="0" smtClean="0"/>
              <a:t>Functional Requirements:</a:t>
            </a:r>
            <a:r>
              <a:rPr lang="en-US" dirty="0" smtClean="0"/>
              <a:t> What the system </a:t>
            </a:r>
            <a:r>
              <a:rPr lang="en-US" i="1" dirty="0" smtClean="0"/>
              <a:t>must do</a:t>
            </a:r>
            <a:r>
              <a:rPr lang="en-US" dirty="0" smtClean="0"/>
              <a:t>.</a:t>
            </a:r>
          </a:p>
          <a:p>
            <a:pPr lvl="1"/>
            <a:r>
              <a:rPr lang="en-US" b="1" dirty="0" smtClean="0"/>
              <a:t>User Stories:</a:t>
            </a:r>
            <a:r>
              <a:rPr lang="en-US" dirty="0" smtClean="0"/>
              <a:t> "As a [user], I want [goal], so that [reason]".</a:t>
            </a:r>
          </a:p>
          <a:p>
            <a:pPr lvl="1"/>
            <a:r>
              <a:rPr lang="en-US" b="1" dirty="0" smtClean="0"/>
              <a:t>Process Flow Diagrams:</a:t>
            </a:r>
            <a:r>
              <a:rPr lang="en-US" dirty="0" smtClean="0"/>
              <a:t> Visual maps of workflows.</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Key Responsibility #3: Solution Assessment &amp; Validation</a:t>
            </a:r>
            <a:endParaRPr lang="en-US" b="1" dirty="0"/>
          </a:p>
        </p:txBody>
      </p:sp>
      <p:sp>
        <p:nvSpPr>
          <p:cNvPr id="3" name="Content Placeholder 2"/>
          <p:cNvSpPr>
            <a:spLocks noGrp="1"/>
          </p:cNvSpPr>
          <p:nvPr>
            <p:ph idx="1"/>
          </p:nvPr>
        </p:nvSpPr>
        <p:spPr>
          <a:xfrm>
            <a:off x="785786" y="2357430"/>
            <a:ext cx="6711654" cy="4195481"/>
          </a:xfrm>
        </p:spPr>
        <p:txBody>
          <a:bodyPr/>
          <a:lstStyle/>
          <a:p>
            <a:r>
              <a:rPr lang="en-US" dirty="0" smtClean="0"/>
              <a:t>The BA doesn't stop after handing off requirements.</a:t>
            </a:r>
          </a:p>
          <a:p>
            <a:r>
              <a:rPr lang="en-US" b="1" dirty="0" smtClean="0"/>
              <a:t>Assessment:</a:t>
            </a:r>
            <a:r>
              <a:rPr lang="en-US" dirty="0" smtClean="0"/>
              <a:t> Evaluating proposed technical solutions to ensure they meet the business need effectively.</a:t>
            </a:r>
          </a:p>
          <a:p>
            <a:r>
              <a:rPr lang="en-US" b="1" dirty="0" smtClean="0"/>
              <a:t>Validation (Testing):</a:t>
            </a:r>
            <a:r>
              <a:rPr lang="en-US" dirty="0" smtClean="0"/>
              <a:t> Working with QA testers to verify that the final developed product fulfills the original requirements.</a:t>
            </a:r>
          </a:p>
          <a:p>
            <a:r>
              <a:rPr lang="en-US" b="1" dirty="0" smtClean="0"/>
              <a:t>User Acceptance Testing (UAT):</a:t>
            </a:r>
            <a:r>
              <a:rPr lang="en-US" dirty="0" smtClean="0"/>
              <a:t> Coordinating with business users to test the solution in a real-world scenario before final release.</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Core Competencies of a Great BA</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Communication (Written &amp; Verbal):</a:t>
            </a:r>
            <a:r>
              <a:rPr lang="en-US" dirty="0" smtClean="0"/>
              <a:t> The #1 skill. Translating jargon between business and IT.</a:t>
            </a:r>
          </a:p>
          <a:p>
            <a:r>
              <a:rPr lang="en-US" b="1" dirty="0" smtClean="0"/>
              <a:t>Critical Thinking &amp; Problem-Solving:</a:t>
            </a:r>
            <a:r>
              <a:rPr lang="en-US" dirty="0" smtClean="0"/>
              <a:t> Analyzing root causes, not just symptoms.</a:t>
            </a:r>
          </a:p>
          <a:p>
            <a:r>
              <a:rPr lang="en-US" b="1" dirty="0" smtClean="0"/>
              <a:t>Stakeholder Management:</a:t>
            </a:r>
            <a:r>
              <a:rPr lang="en-US" dirty="0" smtClean="0"/>
              <a:t> Managing varied (and sometimes conflicting) interests and expectations.</a:t>
            </a:r>
          </a:p>
          <a:p>
            <a:r>
              <a:rPr lang="en-US" b="1" dirty="0" smtClean="0"/>
              <a:t>Process Modeling:</a:t>
            </a:r>
            <a:r>
              <a:rPr lang="en-US" dirty="0" smtClean="0"/>
              <a:t> Using tools like BPMN or UML to map workflows visually.</a:t>
            </a:r>
          </a:p>
          <a:p>
            <a:r>
              <a:rPr lang="en-US" b="1" dirty="0" smtClean="0"/>
              <a:t>Facilitation &amp; Negotiation:</a:t>
            </a:r>
            <a:r>
              <a:rPr lang="en-US" dirty="0" smtClean="0"/>
              <a:t> Leading meetings and helping groups reach a consensus.</a:t>
            </a: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Why is Information Critical for a BA?</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Information (processed data) is the BA's primary raw material.</a:t>
            </a:r>
          </a:p>
          <a:p>
            <a:r>
              <a:rPr lang="en-US" dirty="0" smtClean="0"/>
              <a:t>A BA transforms </a:t>
            </a:r>
            <a:r>
              <a:rPr lang="en-US" b="1" dirty="0" smtClean="0"/>
              <a:t>raw data</a:t>
            </a:r>
            <a:r>
              <a:rPr lang="en-US" dirty="0" smtClean="0"/>
              <a:t> from logs, surveys, and systems into </a:t>
            </a:r>
            <a:r>
              <a:rPr lang="en-US" b="1" dirty="0" smtClean="0"/>
              <a:t>information</a:t>
            </a:r>
            <a:r>
              <a:rPr lang="en-US" dirty="0" smtClean="0"/>
              <a:t> (e.g., "Support ticket volume increased 40% last month").</a:t>
            </a:r>
          </a:p>
          <a:p>
            <a:r>
              <a:rPr lang="en-US" dirty="0" smtClean="0"/>
              <a:t>That information is then combined with context and expertise (e.g., "This spike is due to the new update we released") to form </a:t>
            </a:r>
            <a:r>
              <a:rPr lang="en-US" b="1" dirty="0" smtClean="0"/>
              <a:t>knowledge</a:t>
            </a:r>
            <a:r>
              <a:rPr lang="en-US" dirty="0" smtClean="0"/>
              <a:t> ("The update has a critical bug").</a:t>
            </a:r>
          </a:p>
          <a:p>
            <a:r>
              <a:rPr lang="en-US" dirty="0" smtClean="0"/>
              <a:t>This knowledge drives </a:t>
            </a:r>
            <a:r>
              <a:rPr lang="en-US" b="1" dirty="0" smtClean="0"/>
              <a:t>action and wisdom</a:t>
            </a:r>
            <a:r>
              <a:rPr lang="en-US" dirty="0" smtClean="0"/>
              <a:t> ("We need to roll back the update and fix the bug").</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The BA and Decision-Making</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BAs provide the structured information and analysis that powers organizational decision-making.</a:t>
            </a:r>
          </a:p>
          <a:p>
            <a:r>
              <a:rPr lang="en-US" b="1" dirty="0" smtClean="0"/>
              <a:t>Without a BA:</a:t>
            </a:r>
            <a:r>
              <a:rPr lang="en-US" dirty="0" smtClean="0"/>
              <a:t> Decisions are based on gut feelings, politics, or incomplete data. High risk.</a:t>
            </a:r>
          </a:p>
          <a:p>
            <a:r>
              <a:rPr lang="en-US" b="1" dirty="0" smtClean="0"/>
              <a:t>With a BA:</a:t>
            </a:r>
            <a:r>
              <a:rPr lang="en-US" dirty="0" smtClean="0"/>
              <a:t> Decisions are based on evidence, clear options, and an understanding of trade-offs. Lower risk, better outcomes.</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Summary of BA</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The Business Analyst is the critical bridge between business problems and technical solutions.</a:t>
            </a:r>
          </a:p>
          <a:p>
            <a:r>
              <a:rPr lang="en-US" dirty="0" smtClean="0"/>
              <a:t>Core responsibilities: Elicitation, Analysis/Documentation, and Solution Validation.</a:t>
            </a:r>
          </a:p>
          <a:p>
            <a:r>
              <a:rPr lang="en-US" dirty="0" smtClean="0"/>
              <a:t>Key skills: Communication, critical thinking, and stakeholder management.</a:t>
            </a:r>
          </a:p>
          <a:p>
            <a:r>
              <a:rPr lang="en-US" dirty="0" smtClean="0"/>
              <a:t>BAs transform raw data into actionable knowledge to inform strategic decisions</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857224" y="571480"/>
            <a:ext cx="6620968" cy="3329581"/>
          </a:xfrm>
        </p:spPr>
        <p:txBody>
          <a:bodyPr/>
          <a:lstStyle/>
          <a:p>
            <a:r>
              <a:rPr lang="en-US" sz="5500" b="1" dirty="0" smtClean="0"/>
              <a:t> Overview of Data-Driven Decision Making (DDDM)</a:t>
            </a:r>
            <a:endParaRPr lang="en-US" sz="5500" b="1" dirty="0"/>
          </a:p>
        </p:txBody>
      </p:sp>
      <p:sp>
        <p:nvSpPr>
          <p:cNvPr id="5" name="Subtitle 4"/>
          <p:cNvSpPr>
            <a:spLocks noGrp="1"/>
          </p:cNvSpPr>
          <p:nvPr>
            <p:ph type="subTitle" idx="1"/>
          </p:nvPr>
        </p:nvSpPr>
        <p:spPr>
          <a:xfrm>
            <a:off x="857224" y="4429132"/>
            <a:ext cx="6620968" cy="861420"/>
          </a:xfrm>
        </p:spPr>
        <p:txBody>
          <a:bodyPr/>
          <a:lstStyle/>
          <a:p>
            <a:r>
              <a:rPr lang="en-US" dirty="0" smtClean="0"/>
              <a:t>Data-Driven Decision Making (DDDM)</a:t>
            </a:r>
          </a:p>
          <a:p>
            <a:r>
              <a:rPr lang="en-US" dirty="0" smtClean="0"/>
              <a:t>Replacing Intuition with Evidence</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Agenda for DDDM</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What is Data-Driven Decision Making?</a:t>
            </a:r>
          </a:p>
          <a:p>
            <a:r>
              <a:rPr lang="en-US" dirty="0" smtClean="0"/>
              <a:t>The Critical Importance of DDDM in Modern Business</a:t>
            </a:r>
          </a:p>
          <a:p>
            <a:r>
              <a:rPr lang="en-US" dirty="0" smtClean="0"/>
              <a:t>The Core Process of DDDM</a:t>
            </a:r>
          </a:p>
          <a:p>
            <a:r>
              <a:rPr lang="en-US" dirty="0" smtClean="0"/>
              <a:t>Key Benefits &amp; A Real-World Example (Scenarios)</a:t>
            </a:r>
          </a:p>
          <a:p>
            <a:r>
              <a:rPr lang="en-US" dirty="0" smtClean="0"/>
              <a:t>Major Pitfalls to Avoid in DDDM</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Defining Data-Driven Decision Making</a:t>
            </a:r>
            <a:endParaRPr lang="en-US" b="1" dirty="0"/>
          </a:p>
        </p:txBody>
      </p:sp>
      <p:sp>
        <p:nvSpPr>
          <p:cNvPr id="3" name="Content Placeholder 2"/>
          <p:cNvSpPr>
            <a:spLocks noGrp="1"/>
          </p:cNvSpPr>
          <p:nvPr>
            <p:ph idx="1"/>
          </p:nvPr>
        </p:nvSpPr>
        <p:spPr/>
        <p:txBody>
          <a:bodyPr/>
          <a:lstStyle/>
          <a:p>
            <a:r>
              <a:rPr lang="en-US" b="1" dirty="0" smtClean="0"/>
              <a:t>Definition:</a:t>
            </a:r>
            <a:r>
              <a:rPr lang="en-US" dirty="0" smtClean="0"/>
              <a:t> The practice of basing organizational decisions on the analysis of hard data, verifiable facts, and evidence, rather than solely on intuition, observation, or gut feeling.</a:t>
            </a:r>
          </a:p>
          <a:p>
            <a:r>
              <a:rPr lang="en-US" b="1" dirty="0" smtClean="0"/>
              <a:t>Core Principle:</a:t>
            </a:r>
            <a:r>
              <a:rPr lang="en-US" dirty="0" smtClean="0"/>
              <a:t> Let the data guide the decision. You form a hypothesis, gather data, analyze it, and then act based on the findings.</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Why is DDDM Essential Now?</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Volume &amp; Velocity:</a:t>
            </a:r>
            <a:r>
              <a:rPr lang="en-US" dirty="0" smtClean="0"/>
              <a:t> Businesses generate more data in an hour than they did in a year, just a decade ago. This data contains immense value if analyzed.</a:t>
            </a:r>
          </a:p>
          <a:p>
            <a:r>
              <a:rPr lang="en-US" b="1" dirty="0" smtClean="0"/>
              <a:t>Competitive Advantage:</a:t>
            </a:r>
            <a:r>
              <a:rPr lang="en-US" dirty="0" smtClean="0"/>
              <a:t> Competitors are already using data to understand customers, optimize prices, and predict trends. Lagging behind is a strategic risk.</a:t>
            </a:r>
          </a:p>
          <a:p>
            <a:r>
              <a:rPr lang="en-US" b="1" dirty="0" smtClean="0"/>
              <a:t>Complexity:</a:t>
            </a:r>
            <a:r>
              <a:rPr lang="en-US" dirty="0" smtClean="0"/>
              <a:t> The modern business environment is too complex for a single leader to intuitively understand. Data provides clarity and pattern recognition.</a:t>
            </a:r>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The 5-Step DDDM Process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27700" y="1643051"/>
            <a:ext cx="6711654" cy="4605356"/>
          </a:xfrm>
        </p:spPr>
        <p:txBody>
          <a:bodyPr>
            <a:normAutofit fontScale="92500" lnSpcReduction="10000"/>
          </a:bodyPr>
          <a:lstStyle/>
          <a:p>
            <a:r>
              <a:rPr lang="en-US" b="1" dirty="0" smtClean="0"/>
              <a:t>Step 1: Define the Objective:</a:t>
            </a:r>
            <a:r>
              <a:rPr lang="en-US" dirty="0" smtClean="0"/>
              <a:t> What question are you trying to answer? What decision needs to be made? (e.g., "Should we lower the price of Product X?").</a:t>
            </a:r>
          </a:p>
          <a:p>
            <a:r>
              <a:rPr lang="en-US" b="1" dirty="0" smtClean="0"/>
              <a:t>Step 2: Collect Relevant Data:</a:t>
            </a:r>
            <a:r>
              <a:rPr lang="en-US" dirty="0" smtClean="0"/>
              <a:t> Identify and gather data that relates to your objective. Focus on data quality and relevance.</a:t>
            </a:r>
          </a:p>
          <a:p>
            <a:r>
              <a:rPr lang="en-US" b="1" dirty="0" smtClean="0"/>
              <a:t>Step 3: Analyze the Data:</a:t>
            </a:r>
            <a:r>
              <a:rPr lang="en-US" dirty="0" smtClean="0"/>
              <a:t> Clean, process, and analyze the data to find patterns, correlations, and insights.</a:t>
            </a:r>
          </a:p>
          <a:p>
            <a:r>
              <a:rPr lang="en-US" b="1" dirty="0" smtClean="0"/>
              <a:t>Step 4: Interpret and Decide:</a:t>
            </a:r>
            <a:r>
              <a:rPr lang="en-US" dirty="0" smtClean="0"/>
              <a:t> Interpret the analysis results. Does the data provide a clear answer? Make the decision based on the evidence.</a:t>
            </a:r>
          </a:p>
          <a:p>
            <a:r>
              <a:rPr lang="en-US" b="1" dirty="0" smtClean="0"/>
              <a:t>Step 5: Act and Evaluate:</a:t>
            </a:r>
            <a:r>
              <a:rPr lang="en-US" dirty="0" smtClean="0"/>
              <a:t> Implement the decision and measure the outcomes. This evaluation becomes data for the </a:t>
            </a:r>
            <a:r>
              <a:rPr lang="en-US" i="1" dirty="0" smtClean="0"/>
              <a:t>next</a:t>
            </a:r>
            <a:r>
              <a:rPr lang="en-US" dirty="0" smtClean="0"/>
              <a:t> decision.</a:t>
            </a: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The Core Philosophy of DDDM</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Move from "I think..." to "The data shows..."</a:t>
            </a:r>
            <a:endParaRPr lang="en-US" dirty="0" smtClean="0"/>
          </a:p>
          <a:p>
            <a:r>
              <a:rPr lang="en-US" b="1" dirty="0" smtClean="0"/>
              <a:t>Move from "We've always done it this way..." to "What does the evidence suggest now?"</a:t>
            </a:r>
            <a:endParaRPr lang="en-US" dirty="0" smtClean="0"/>
          </a:p>
          <a:p>
            <a:r>
              <a:rPr lang="en-US" b="1" dirty="0" smtClean="0"/>
              <a:t>Move from </a:t>
            </a:r>
            <a:r>
              <a:rPr lang="en-US" b="1" dirty="0" err="1" smtClean="0"/>
              <a:t>HiPPO</a:t>
            </a:r>
            <a:r>
              <a:rPr lang="en-US" b="1" dirty="0" smtClean="0"/>
              <a:t> decisions (Highest Paid Person's Opinion) to democratic, factual analysis.</a:t>
            </a:r>
            <a:endParaRPr lang="en-US" dirty="0" smtClean="0"/>
          </a:p>
          <a:p>
            <a:r>
              <a:rPr lang="en-US" dirty="0" smtClean="0"/>
              <a:t>Data is a tool to augment, not replace, human expertise and leadership. The leader still makes the final call but with better information.</a:t>
            </a: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The Immense Benefits of DDDM</a:t>
            </a:r>
            <a:endParaRPr lang="en-US" dirty="0"/>
          </a:p>
        </p:txBody>
      </p:sp>
      <p:sp>
        <p:nvSpPr>
          <p:cNvPr id="3" name="Content Placeholder 2"/>
          <p:cNvSpPr>
            <a:spLocks noGrp="1"/>
          </p:cNvSpPr>
          <p:nvPr>
            <p:ph idx="1"/>
          </p:nvPr>
        </p:nvSpPr>
        <p:spPr/>
        <p:txBody>
          <a:bodyPr/>
          <a:lstStyle/>
          <a:p>
            <a:r>
              <a:rPr lang="en-US" b="1" dirty="0" smtClean="0"/>
              <a:t>Better Decision Quality:</a:t>
            </a:r>
            <a:r>
              <a:rPr lang="en-US" dirty="0" smtClean="0"/>
              <a:t> Reduced bias, lower risk of error.</a:t>
            </a:r>
          </a:p>
          <a:p>
            <a:r>
              <a:rPr lang="en-US" b="1" dirty="0" smtClean="0"/>
              <a:t>Faster Decisions:</a:t>
            </a:r>
            <a:r>
              <a:rPr lang="en-US" dirty="0" smtClean="0"/>
              <a:t> Automated analysis and real-time dashboards can speed up response times significantly.</a:t>
            </a:r>
          </a:p>
          <a:p>
            <a:r>
              <a:rPr lang="en-US" b="1" dirty="0" smtClean="0"/>
              <a:t>Improved Agility:</a:t>
            </a:r>
            <a:r>
              <a:rPr lang="en-US" dirty="0" smtClean="0"/>
              <a:t> Organizations can sense a market change and react quickly because they have the data to confirm the trend.</a:t>
            </a:r>
          </a:p>
          <a:p>
            <a:r>
              <a:rPr lang="en-US" b="1" dirty="0" smtClean="0"/>
              <a:t>Enhanced ROI:</a:t>
            </a:r>
            <a:r>
              <a:rPr lang="en-US" dirty="0" smtClean="0"/>
              <a:t> Optimizing marketing spend, supply chains, and product features based on data increases profitability.</a:t>
            </a: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Real-World Example: Scenario Analysis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10000"/>
          </a:bodyPr>
          <a:lstStyle/>
          <a:p>
            <a:r>
              <a:rPr lang="en-US" b="1" dirty="0" smtClean="0"/>
              <a:t>Definition:</a:t>
            </a:r>
            <a:r>
              <a:rPr lang="en-US" dirty="0" smtClean="0"/>
              <a:t> Scenario analysis is a DDDM technique that analyzes potential future events by considering alternative possible outcomes (scenarios).</a:t>
            </a:r>
          </a:p>
          <a:p>
            <a:r>
              <a:rPr lang="en-US" b="1" dirty="0" smtClean="0"/>
              <a:t>Example:</a:t>
            </a:r>
            <a:r>
              <a:rPr lang="en-US" dirty="0" smtClean="0"/>
              <a:t> An energy company deciding whether to build a new wind farm.</a:t>
            </a:r>
          </a:p>
          <a:p>
            <a:pPr lvl="1"/>
            <a:r>
              <a:rPr lang="en-US" b="1" dirty="0" smtClean="0"/>
              <a:t>Scenario A (Optimistic):</a:t>
            </a:r>
            <a:r>
              <a:rPr lang="en-US" dirty="0" smtClean="0"/>
              <a:t> Government tax credits are renewed, energy prices rise. (High ROI)</a:t>
            </a:r>
          </a:p>
          <a:p>
            <a:pPr lvl="1"/>
            <a:r>
              <a:rPr lang="en-US" b="1" dirty="0" smtClean="0"/>
              <a:t>Scenario B (Base):</a:t>
            </a:r>
            <a:r>
              <a:rPr lang="en-US" dirty="0" smtClean="0"/>
              <a:t> Current market conditions continue. (Moderate ROI)</a:t>
            </a:r>
          </a:p>
          <a:p>
            <a:pPr lvl="1"/>
            <a:r>
              <a:rPr lang="en-US" b="1" dirty="0" smtClean="0"/>
              <a:t>Scenario C (Pessimistic):</a:t>
            </a:r>
            <a:r>
              <a:rPr lang="en-US" dirty="0" smtClean="0"/>
              <a:t> New regulations increase costs, energy prices drop. (Negative ROI)</a:t>
            </a:r>
          </a:p>
          <a:p>
            <a:r>
              <a:rPr lang="en-US" b="1" dirty="0" smtClean="0"/>
              <a:t>Decision:</a:t>
            </a:r>
            <a:r>
              <a:rPr lang="en-US" dirty="0" smtClean="0"/>
              <a:t> Build only if Scenario C's outcome is an acceptable risk.</a:t>
            </a:r>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Major Pitfall #1: Data Confirmation Bias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The Pitfall:</a:t>
            </a:r>
            <a:r>
              <a:rPr lang="en-US" dirty="0" smtClean="0"/>
              <a:t> Seeking out or interpreting data in a way that confirms your pre-existing beliefs or desired conclusion.</a:t>
            </a:r>
          </a:p>
          <a:p>
            <a:r>
              <a:rPr lang="en-US" b="1" dirty="0" smtClean="0"/>
              <a:t>Example:</a:t>
            </a:r>
            <a:r>
              <a:rPr lang="en-US" dirty="0" smtClean="0"/>
              <a:t> You want to launch a new product, so you only look at small positive survey responses and ignore large negative customer feedback data.</a:t>
            </a:r>
          </a:p>
          <a:p>
            <a:r>
              <a:rPr lang="en-US" b="1" dirty="0" smtClean="0"/>
              <a:t>Solution:</a:t>
            </a:r>
            <a:r>
              <a:rPr lang="en-US" dirty="0" smtClean="0"/>
              <a:t> Actively seek out data that could </a:t>
            </a:r>
            <a:r>
              <a:rPr lang="en-US" i="1" dirty="0" smtClean="0"/>
              <a:t>disprove</a:t>
            </a:r>
            <a:r>
              <a:rPr lang="en-US" dirty="0" smtClean="0"/>
              <a:t> your hypothesis. Assign a "red team" to challenge your findings.</a:t>
            </a:r>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Major Pitfall #2: Correlation vs. Causation</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The Pitfall:</a:t>
            </a:r>
            <a:r>
              <a:rPr lang="en-US" dirty="0" smtClean="0"/>
              <a:t> Mistaking two things that happen together (correlation) for one thing directly causing the other (causation).</a:t>
            </a:r>
          </a:p>
          <a:p>
            <a:r>
              <a:rPr lang="en-US" b="1" dirty="0" smtClean="0"/>
              <a:t>Example:</a:t>
            </a:r>
            <a:r>
              <a:rPr lang="en-US" dirty="0" smtClean="0"/>
              <a:t> Data shows a strong correlation between ice cream sales and drowning incidents.</a:t>
            </a:r>
          </a:p>
          <a:p>
            <a:pPr lvl="1"/>
            <a:r>
              <a:rPr lang="en-US" b="1" dirty="0" smtClean="0"/>
              <a:t>False Conclusion:</a:t>
            </a:r>
            <a:r>
              <a:rPr lang="en-US" dirty="0" smtClean="0"/>
              <a:t> "Buying ice cream causes drowning."</a:t>
            </a:r>
          </a:p>
          <a:p>
            <a:pPr lvl="1"/>
            <a:r>
              <a:rPr lang="en-US" b="1" dirty="0" smtClean="0"/>
              <a:t>Real Cause:</a:t>
            </a:r>
            <a:r>
              <a:rPr lang="en-US" dirty="0" smtClean="0"/>
              <a:t> "Hot weather" (the confounder) causes both an increase in ice cream sales and people swimming.</a:t>
            </a:r>
          </a:p>
          <a:p>
            <a:r>
              <a:rPr lang="en-US" b="1" dirty="0" smtClean="0"/>
              <a:t>Solution:</a:t>
            </a:r>
            <a:r>
              <a:rPr lang="en-US" dirty="0" smtClean="0"/>
              <a:t> Think critically. Is there a logical connection? Are there hidden variables?</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Summary of DDDM</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DDDM means making decisions based on verifiable data, not just intuition.</a:t>
            </a:r>
          </a:p>
          <a:p>
            <a:r>
              <a:rPr lang="en-US" dirty="0" smtClean="0"/>
              <a:t>It follows a process: Define → Collect → Analyze → Interpret &amp; Decide → Act &amp; Evaluate.</a:t>
            </a:r>
          </a:p>
          <a:p>
            <a:r>
              <a:rPr lang="en-US" dirty="0" smtClean="0"/>
              <a:t>Benefits include higher quality, faster decisions, and improved ROI.</a:t>
            </a:r>
          </a:p>
          <a:p>
            <a:r>
              <a:rPr lang="en-US" dirty="0" smtClean="0"/>
              <a:t>Major pitfalls include confirmation bias and confusing correlation with causation. Always be critical of your data.</a:t>
            </a: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714348" y="571480"/>
            <a:ext cx="6620968" cy="2686639"/>
          </a:xfrm>
        </p:spPr>
        <p:txBody>
          <a:bodyPr/>
          <a:lstStyle/>
          <a:p>
            <a:r>
              <a:rPr lang="en-US" b="1" dirty="0" smtClean="0">
                <a:effectLst>
                  <a:outerShdw blurRad="38100" dist="38100" dir="2700000" algn="tl">
                    <a:srgbClr val="000000">
                      <a:alpha val="43137"/>
                    </a:srgbClr>
                  </a:outerShdw>
                </a:effectLst>
              </a:rPr>
              <a:t>Real-Life Case Discussions</a:t>
            </a:r>
            <a:endParaRPr lang="en-US" b="1" dirty="0">
              <a:effectLst>
                <a:outerShdw blurRad="38100" dist="38100" dir="2700000" algn="tl">
                  <a:srgbClr val="000000">
                    <a:alpha val="43137"/>
                  </a:srgbClr>
                </a:outerShdw>
              </a:effectLst>
            </a:endParaRPr>
          </a:p>
        </p:txBody>
      </p:sp>
      <p:sp>
        <p:nvSpPr>
          <p:cNvPr id="6" name="Subtitle 5"/>
          <p:cNvSpPr>
            <a:spLocks noGrp="1"/>
          </p:cNvSpPr>
          <p:nvPr>
            <p:ph type="subTitle" idx="1"/>
          </p:nvPr>
        </p:nvSpPr>
        <p:spPr>
          <a:xfrm>
            <a:off x="857224" y="3853464"/>
            <a:ext cx="6620968" cy="861420"/>
          </a:xfrm>
        </p:spPr>
        <p:txBody>
          <a:bodyPr>
            <a:normAutofit fontScale="92500"/>
          </a:bodyPr>
          <a:lstStyle/>
          <a:p>
            <a:r>
              <a:rPr lang="en-US" dirty="0" smtClean="0"/>
              <a:t>Real-Life Case Discussions</a:t>
            </a:r>
          </a:p>
          <a:p>
            <a:r>
              <a:rPr lang="en-US" dirty="0" smtClean="0"/>
              <a:t>Applying DDDM and Business Analysis in Practice</a:t>
            </a: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Agenda for Real-Life Case Discussions </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Why Study Business Cases?</a:t>
            </a:r>
          </a:p>
          <a:p>
            <a:r>
              <a:rPr lang="en-US" dirty="0" smtClean="0"/>
              <a:t>Case 1: Optimizing Operations (Netflix)</a:t>
            </a:r>
          </a:p>
          <a:p>
            <a:r>
              <a:rPr lang="en-US" dirty="0" smtClean="0"/>
              <a:t>Case 2: Solving a Business Problem (Domino's Pizza)</a:t>
            </a:r>
          </a:p>
          <a:p>
            <a:r>
              <a:rPr lang="en-US" dirty="0" smtClean="0"/>
              <a:t>Interactive Discussion Questions</a:t>
            </a: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The Value of Real-Life Cases</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Theories and frameworks are essential, but cases show how they work in a messy, real-world environment.</a:t>
            </a:r>
          </a:p>
          <a:p>
            <a:r>
              <a:rPr lang="en-US" dirty="0" smtClean="0"/>
              <a:t>Cases demonstrate </a:t>
            </a:r>
            <a:r>
              <a:rPr lang="en-US" b="1" dirty="0" smtClean="0"/>
              <a:t>consequences</a:t>
            </a:r>
            <a:r>
              <a:rPr lang="en-US" dirty="0" smtClean="0"/>
              <a:t>—both good and bad—of business decisions.</a:t>
            </a:r>
          </a:p>
          <a:p>
            <a:r>
              <a:rPr lang="en-US" dirty="0" smtClean="0"/>
              <a:t>They help you build </a:t>
            </a:r>
            <a:r>
              <a:rPr lang="en-US" b="1" dirty="0" smtClean="0"/>
              <a:t>pattern recognition</a:t>
            </a:r>
            <a:r>
              <a:rPr lang="en-US" dirty="0" smtClean="0"/>
              <a:t> to apply to problems in your own future career.</a:t>
            </a:r>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Case 1: Netflix – A Master of Data-Driven Decisions</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27700" y="1928802"/>
            <a:ext cx="6711654" cy="4714907"/>
          </a:xfrm>
        </p:spPr>
        <p:txBody>
          <a:bodyPr>
            <a:normAutofit/>
          </a:bodyPr>
          <a:lstStyle/>
          <a:p>
            <a:r>
              <a:rPr lang="en-US" b="1" dirty="0" smtClean="0"/>
              <a:t>The Goal:</a:t>
            </a:r>
            <a:r>
              <a:rPr lang="en-US" dirty="0" smtClean="0"/>
              <a:t> Dominate the streaming entertainment market.</a:t>
            </a:r>
          </a:p>
          <a:p>
            <a:r>
              <a:rPr lang="en-US" b="1" dirty="0" smtClean="0"/>
              <a:t>The Approach:</a:t>
            </a:r>
            <a:r>
              <a:rPr lang="en-US" dirty="0" smtClean="0"/>
              <a:t> Uses granular data for every major decision.</a:t>
            </a:r>
          </a:p>
          <a:p>
            <a:pPr lvl="1"/>
            <a:r>
              <a:rPr lang="en-US" i="1" dirty="0" smtClean="0"/>
              <a:t>Content Creation:</a:t>
            </a:r>
            <a:r>
              <a:rPr lang="en-US" dirty="0" smtClean="0"/>
              <a:t> Analyzes viewing habits, search queries, and ratings to know exactly what genres, actors, and directors are popular. This spawned hits like "House of Cards."</a:t>
            </a:r>
          </a:p>
          <a:p>
            <a:pPr lvl="1"/>
            <a:r>
              <a:rPr lang="en-US" i="1" dirty="0" smtClean="0"/>
              <a:t>Personalization:</a:t>
            </a:r>
            <a:r>
              <a:rPr lang="en-US" dirty="0" smtClean="0"/>
              <a:t> The recommendation engine (DDDM in action) drives 80% of content watched. It optimizes for user engagement.</a:t>
            </a:r>
          </a:p>
          <a:p>
            <a:pPr lvl="1"/>
            <a:r>
              <a:rPr lang="en-US" i="1" dirty="0" smtClean="0"/>
              <a:t>Thumbnail Selection:</a:t>
            </a:r>
            <a:r>
              <a:rPr lang="en-US" dirty="0" smtClean="0"/>
              <a:t> A/B tests hundreds of thumbnail images per show to see which one gets the most clicks for an individual user.</a:t>
            </a:r>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Case 1: Analysis &amp; Result for Netflix</a:t>
            </a:r>
            <a:endParaRPr lang="en-US" dirty="0"/>
          </a:p>
        </p:txBody>
      </p:sp>
      <p:sp>
        <p:nvSpPr>
          <p:cNvPr id="3" name="Content Placeholder 2"/>
          <p:cNvSpPr>
            <a:spLocks noGrp="1"/>
          </p:cNvSpPr>
          <p:nvPr>
            <p:ph idx="1"/>
          </p:nvPr>
        </p:nvSpPr>
        <p:spPr/>
        <p:txBody>
          <a:bodyPr/>
          <a:lstStyle/>
          <a:p>
            <a:r>
              <a:rPr lang="en-US" b="1" dirty="0" smtClean="0"/>
              <a:t>Analysis:</a:t>
            </a:r>
            <a:r>
              <a:rPr lang="en-US" dirty="0" smtClean="0"/>
              <a:t> Netflix doesn't ask "What show should we make?" It asks "What data do we have that tells us what our customers will watch?" They have replaced creative hunches with algorithmic insights.</a:t>
            </a:r>
          </a:p>
          <a:p>
            <a:r>
              <a:rPr lang="en-US" b="1" dirty="0" smtClean="0"/>
              <a:t>Result:</a:t>
            </a:r>
            <a:r>
              <a:rPr lang="en-US" dirty="0" smtClean="0"/>
              <a:t> A massive competitive moat, incredible customer retention, and billions of dollars in value. They have mastered the "Analyze" and "Act &amp; Evaluate" steps of DDDM.</a:t>
            </a:r>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Case 2: Domino's Pizza – Solving with Data &amp; IT</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The Problem:</a:t>
            </a:r>
            <a:r>
              <a:rPr lang="en-US" dirty="0" smtClean="0"/>
              <a:t> By the late 2000s, Domino's had a reputation for terrible-tasting pizza. Sales and stock price were plummeting.</a:t>
            </a:r>
          </a:p>
          <a:p>
            <a:r>
              <a:rPr lang="en-US" b="1" dirty="0" smtClean="0"/>
              <a:t>The BA Approach:</a:t>
            </a:r>
            <a:r>
              <a:rPr lang="en-US" dirty="0" smtClean="0"/>
              <a:t> They collected massive amounts of customer feedback (internal data source) and realized it wasn't </a:t>
            </a:r>
            <a:r>
              <a:rPr lang="en-US" i="1" dirty="0" smtClean="0"/>
              <a:t>just</a:t>
            </a:r>
            <a:r>
              <a:rPr lang="en-US" dirty="0" smtClean="0"/>
              <a:t> delivery times or service. The core problem was the </a:t>
            </a:r>
            <a:r>
              <a:rPr lang="en-US" b="1" dirty="0" smtClean="0"/>
              <a:t>product</a:t>
            </a:r>
            <a:r>
              <a:rPr lang="en-US" dirty="0" smtClean="0"/>
              <a:t> itself.</a:t>
            </a:r>
          </a:p>
          <a:p>
            <a:r>
              <a:rPr lang="en-US" b="1" dirty="0" smtClean="0"/>
              <a:t>The Data-Driven Solution:</a:t>
            </a:r>
            <a:r>
              <a:rPr lang="en-US" dirty="0" smtClean="0"/>
              <a:t> They completely reinvented their pizza recipe from scratch. Then, they launched a "Pizza Turnaround" ad campaign, admitting their failures publicly and showing the new recipe.</a:t>
            </a:r>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Case 2: Analysis &amp; Result for Domino's</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Analysis:</a:t>
            </a:r>
            <a:r>
              <a:rPr lang="en-US" dirty="0" smtClean="0"/>
              <a:t> The BA role here was listening to the "voice of the customer" data. The solution was not a new IT system but a product reformulation. IT later played a huge role in the turnaround via the "Domino's Tracker" app, which provided transparency and built trust.</a:t>
            </a:r>
          </a:p>
          <a:p>
            <a:r>
              <a:rPr lang="en-US" b="1" dirty="0" smtClean="0"/>
              <a:t>Result:</a:t>
            </a:r>
            <a:r>
              <a:rPr lang="en-US" dirty="0" smtClean="0"/>
              <a:t> A legendary turnaround. Stock price soared over 4,000% in the following years. They used data to admit fault, fix the core product, and then use IT to rebuild customer trust through transparency.</a:t>
            </a: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Real-Life Case Discussions : Discussion &amp; Takeaways</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Discuss:</a:t>
            </a:r>
            <a:endParaRPr lang="en-US" dirty="0" smtClean="0"/>
          </a:p>
          <a:p>
            <a:pPr lvl="1"/>
            <a:r>
              <a:rPr lang="en-US" dirty="0" smtClean="0"/>
              <a:t>What kind of data do you think Domino's analyzed beyond taste?</a:t>
            </a:r>
          </a:p>
          <a:p>
            <a:pPr lvl="1"/>
            <a:r>
              <a:rPr lang="en-US" dirty="0" smtClean="0"/>
              <a:t>Could Netflix's strategy work for a small, local bookstore? Why/why not?</a:t>
            </a:r>
          </a:p>
          <a:p>
            <a:r>
              <a:rPr lang="en-US" b="1" dirty="0" smtClean="0"/>
              <a:t>Core Takeaway:</a:t>
            </a:r>
            <a:r>
              <a:rPr lang="en-US" dirty="0" smtClean="0"/>
              <a:t> Real-world success comes from combining business analysis, IT systems, and a relentless focus on data to drive the right decisions and solutions.</a:t>
            </a:r>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57224" y="928670"/>
            <a:ext cx="6620968" cy="3329581"/>
          </a:xfrm>
        </p:spPr>
        <p:txBody>
          <a:bodyPr>
            <a:noAutofit/>
          </a:bodyPr>
          <a:lstStyle/>
          <a:p>
            <a:r>
              <a:rPr lang="en-US" sz="5800" b="1" dirty="0" smtClean="0">
                <a:effectLst>
                  <a:outerShdw blurRad="38100" dist="38100" dir="2700000" algn="tl">
                    <a:srgbClr val="000000">
                      <a:alpha val="43137"/>
                    </a:srgbClr>
                  </a:outerShdw>
                </a:effectLst>
              </a:rPr>
              <a:t>Introduction to Data Governance</a:t>
            </a:r>
            <a:br>
              <a:rPr lang="en-US" sz="5800" b="1" dirty="0" smtClean="0">
                <a:effectLst>
                  <a:outerShdw blurRad="38100" dist="38100" dir="2700000" algn="tl">
                    <a:srgbClr val="000000">
                      <a:alpha val="43137"/>
                    </a:srgbClr>
                  </a:outerShdw>
                </a:effectLst>
              </a:rPr>
            </a:br>
            <a:endParaRPr lang="en-US" sz="5800" dirty="0">
              <a:effectLst>
                <a:outerShdw blurRad="38100" dist="38100" dir="2700000" algn="tl">
                  <a:srgbClr val="000000">
                    <a:alpha val="43137"/>
                  </a:srgbClr>
                </a:outerShdw>
              </a:effectLst>
            </a:endParaRPr>
          </a:p>
        </p:txBody>
      </p:sp>
      <p:sp>
        <p:nvSpPr>
          <p:cNvPr id="3" name="Content Placeholder 2"/>
          <p:cNvSpPr>
            <a:spLocks noGrp="1"/>
          </p:cNvSpPr>
          <p:nvPr>
            <p:ph type="subTitle" idx="1"/>
          </p:nvPr>
        </p:nvSpPr>
        <p:spPr>
          <a:xfrm>
            <a:off x="866442" y="3857628"/>
            <a:ext cx="6620968" cy="1781172"/>
          </a:xfrm>
        </p:spPr>
        <p:txBody>
          <a:bodyPr>
            <a:normAutofit/>
          </a:bodyPr>
          <a:lstStyle/>
          <a:p>
            <a:r>
              <a:rPr lang="en-US" dirty="0" smtClean="0"/>
              <a:t>Introduction to Data Governance</a:t>
            </a:r>
          </a:p>
          <a:p>
            <a:r>
              <a:rPr lang="en-US" dirty="0" smtClean="0"/>
              <a:t>The Rules of the Road for Your Data</a:t>
            </a:r>
          </a:p>
          <a:p>
            <a:r>
              <a:rPr lang="en-US" dirty="0" smtClean="0"/>
              <a:t/>
            </a:r>
            <a:br>
              <a:rPr lang="en-US" dirty="0" smtClean="0"/>
            </a:b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Agenda for Introduction to Data Governance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What is Data Governance?</a:t>
            </a:r>
          </a:p>
          <a:p>
            <a:r>
              <a:rPr lang="en-US" dirty="0" smtClean="0"/>
              <a:t>Why it's Critical: The Three Pillars (Compliance, Security, Value)</a:t>
            </a:r>
          </a:p>
          <a:p>
            <a:r>
              <a:rPr lang="en-US" dirty="0" smtClean="0"/>
              <a:t>The People, Processes, and Technology of Governance</a:t>
            </a:r>
          </a:p>
          <a:p>
            <a:r>
              <a:rPr lang="en-US" dirty="0" smtClean="0"/>
              <a:t>Core Policies You Need</a:t>
            </a:r>
          </a:p>
          <a:p>
            <a:r>
              <a:rPr lang="en-US" dirty="0" smtClean="0"/>
              <a:t>Data Governance vs. Data Management</a:t>
            </a:r>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Defining Data Governance</a:t>
            </a:r>
            <a:r>
              <a:rPr lang="en-US" dirty="0" smtClean="0"/>
              <a:t/>
            </a:r>
            <a:br>
              <a:rPr lang="en-US" dirty="0" smtClean="0"/>
            </a:br>
            <a:endParaRPr lang="en-US" b="1" dirty="0"/>
          </a:p>
        </p:txBody>
      </p:sp>
      <p:sp>
        <p:nvSpPr>
          <p:cNvPr id="3" name="Content Placeholder 2"/>
          <p:cNvSpPr>
            <a:spLocks noGrp="1"/>
          </p:cNvSpPr>
          <p:nvPr>
            <p:ph idx="1"/>
          </p:nvPr>
        </p:nvSpPr>
        <p:spPr/>
        <p:txBody>
          <a:bodyPr>
            <a:normAutofit/>
          </a:bodyPr>
          <a:lstStyle/>
          <a:p>
            <a:r>
              <a:rPr lang="en-US" b="1" dirty="0" smtClean="0"/>
              <a:t>Definition:</a:t>
            </a:r>
            <a:r>
              <a:rPr lang="en-US" dirty="0" smtClean="0"/>
              <a:t> A collection of practices, processes, policies, and roles that ensure the </a:t>
            </a:r>
            <a:r>
              <a:rPr lang="en-US" i="1" dirty="0" smtClean="0"/>
              <a:t>effective, secure, and compliant</a:t>
            </a:r>
            <a:r>
              <a:rPr lang="en-US" dirty="0" smtClean="0"/>
              <a:t> management of an organization's data assets.</a:t>
            </a:r>
          </a:p>
          <a:p>
            <a:r>
              <a:rPr lang="en-US" b="1" dirty="0" smtClean="0"/>
              <a:t>Simple Analogy:</a:t>
            </a:r>
            <a:r>
              <a:rPr lang="en-US" dirty="0" smtClean="0"/>
              <a:t> Data governance is the "rules of the road" (stop signs, speed limits, traffic lights) that allows everyone to drive their cars (manage data) safely and efficiently without crashing.</a:t>
            </a:r>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Why is Data Governance Essential?</a:t>
            </a:r>
            <a:r>
              <a:rPr lang="en-US" dirty="0" smtClean="0">
                <a:effectLst>
                  <a:outerShdw blurRad="38100" dist="38100" dir="2700000" algn="tl">
                    <a:srgbClr val="000000">
                      <a:alpha val="43137"/>
                    </a:srgbClr>
                  </a:outerShdw>
                </a:effectLst>
              </a:rPr>
              <a:t/>
            </a:r>
            <a:br>
              <a:rPr lang="en-US" dirty="0" smtClean="0">
                <a:effectLst>
                  <a:outerShdw blurRad="38100" dist="38100" dir="2700000" algn="tl">
                    <a:srgbClr val="000000">
                      <a:alpha val="43137"/>
                    </a:srgbClr>
                  </a:outerShdw>
                </a:effectLst>
              </a:rPr>
            </a:b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Pillar #1: Compliance:</a:t>
            </a:r>
            <a:r>
              <a:rPr lang="en-US" dirty="0" smtClean="0"/>
              <a:t> To adhere to laws like GDPR (EU) and CCPA (California). Non-compliance leads to massive fines (up to €20M or 4% of global turnover).</a:t>
            </a:r>
          </a:p>
          <a:p>
            <a:r>
              <a:rPr lang="en-US" b="1" dirty="0" smtClean="0"/>
              <a:t>Pillar #2: Security:</a:t>
            </a:r>
            <a:r>
              <a:rPr lang="en-US" dirty="0" smtClean="0"/>
              <a:t> To protect sensitive data from breaches, leaks, and </a:t>
            </a:r>
            <a:r>
              <a:rPr lang="en-US" dirty="0" err="1" smtClean="0"/>
              <a:t>cyberattacks</a:t>
            </a:r>
            <a:r>
              <a:rPr lang="en-US" dirty="0" smtClean="0"/>
              <a:t>. A breach destroys customer trust.</a:t>
            </a:r>
          </a:p>
          <a:p>
            <a:r>
              <a:rPr lang="en-US" b="1" dirty="0" smtClean="0"/>
              <a:t>Pillar #3: Value &amp; Trust:</a:t>
            </a:r>
            <a:r>
              <a:rPr lang="en-US" dirty="0" smtClean="0"/>
              <a:t> To ensure data is reliable and trustworthy for decision-making ("Is this sales report accurate?"). Good governance drives business value.</a:t>
            </a:r>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effectLst>
                  <a:outerShdw blurRad="38100" dist="38100" dir="2700000" algn="tl">
                    <a:srgbClr val="000000">
                      <a:alpha val="43137"/>
                    </a:srgbClr>
                  </a:outerShdw>
                </a:effectLst>
              </a:rPr>
              <a:t>The Three Core Components of Governance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People (The Actors):</a:t>
            </a:r>
            <a:r>
              <a:rPr lang="en-US" dirty="0" smtClean="0"/>
              <a:t> Who is responsible? Defines roles like Data Owner, Data Steward, Data Custodian, and the Data Governance Council.</a:t>
            </a:r>
          </a:p>
          <a:p>
            <a:r>
              <a:rPr lang="en-US" b="1" dirty="0" smtClean="0"/>
              <a:t>Processes (The Rules):</a:t>
            </a:r>
            <a:r>
              <a:rPr lang="en-US" dirty="0" smtClean="0"/>
              <a:t> How is data handled? Standardized workflows for data access, quality checks, issue resolution, and compliance.</a:t>
            </a:r>
          </a:p>
          <a:p>
            <a:r>
              <a:rPr lang="en-US" b="1" dirty="0" smtClean="0"/>
              <a:t>Technology (The Tools):</a:t>
            </a:r>
            <a:r>
              <a:rPr lang="en-US" dirty="0" smtClean="0"/>
              <a:t> What enforces the rules? Software for data cataloging, lineage tracking, metadata management, and access control.</a:t>
            </a:r>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Key Roles in Data Governance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b="1" dirty="0" smtClean="0"/>
              <a:t>Data Governance Council:</a:t>
            </a:r>
            <a:r>
              <a:rPr lang="en-US" dirty="0" smtClean="0"/>
              <a:t> Senior leaders who approve policies and fund the program.</a:t>
            </a:r>
          </a:p>
          <a:p>
            <a:r>
              <a:rPr lang="en-US" b="1" dirty="0" smtClean="0"/>
              <a:t>Data Owner:</a:t>
            </a:r>
            <a:r>
              <a:rPr lang="en-US" dirty="0" smtClean="0"/>
              <a:t> A senior manager accountable for the quality and security of a specific data domain (e.g., "Customer Data" owner in Sales).</a:t>
            </a:r>
          </a:p>
          <a:p>
            <a:r>
              <a:rPr lang="en-US" b="1" dirty="0" smtClean="0"/>
              <a:t>Data Steward:</a:t>
            </a:r>
            <a:r>
              <a:rPr lang="en-US" dirty="0" smtClean="0"/>
              <a:t> The </a:t>
            </a:r>
            <a:r>
              <a:rPr lang="en-US" i="1" dirty="0" smtClean="0"/>
              <a:t>hands-on</a:t>
            </a:r>
            <a:r>
              <a:rPr lang="en-US" dirty="0" smtClean="0"/>
              <a:t> person responsible for implementing the policies on a day-to-day basis, managing data quality, and solving issues.</a:t>
            </a:r>
          </a:p>
          <a:p>
            <a:r>
              <a:rPr lang="en-US" b="1" dirty="0" smtClean="0"/>
              <a:t>Data Custodian:</a:t>
            </a:r>
            <a:r>
              <a:rPr lang="en-US" dirty="0" smtClean="0"/>
              <a:t> An IT role responsible for the technical environment (storage, backups, security) where data resides.</a:t>
            </a:r>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The Core Policies of Data Governance</a:t>
            </a:r>
            <a:endParaRPr lang="en-US" b="1" dirty="0"/>
          </a:p>
        </p:txBody>
      </p:sp>
      <p:sp>
        <p:nvSpPr>
          <p:cNvPr id="3" name="Content Placeholder 2"/>
          <p:cNvSpPr>
            <a:spLocks noGrp="1"/>
          </p:cNvSpPr>
          <p:nvPr>
            <p:ph idx="1"/>
          </p:nvPr>
        </p:nvSpPr>
        <p:spPr/>
        <p:txBody>
          <a:bodyPr>
            <a:normAutofit lnSpcReduction="10000"/>
          </a:bodyPr>
          <a:lstStyle/>
          <a:p>
            <a:r>
              <a:rPr lang="en-US" b="1" dirty="0" smtClean="0"/>
              <a:t>Data Access Policy:</a:t>
            </a:r>
            <a:r>
              <a:rPr lang="en-US" dirty="0" smtClean="0"/>
              <a:t> Who can access what data, under what circumstances? (Includes role-based access control).</a:t>
            </a:r>
          </a:p>
          <a:p>
            <a:r>
              <a:rPr lang="en-US" b="1" dirty="0" smtClean="0"/>
              <a:t>Data Quality Policy:</a:t>
            </a:r>
            <a:r>
              <a:rPr lang="en-US" dirty="0" smtClean="0"/>
              <a:t> Defines rules for data completeness, accuracy, and timeliness. Who checks it? How are errors fixed?</a:t>
            </a:r>
          </a:p>
          <a:p>
            <a:r>
              <a:rPr lang="en-US" b="1" dirty="0" smtClean="0"/>
              <a:t>Data Retention &amp; Disposal Policy:</a:t>
            </a:r>
            <a:r>
              <a:rPr lang="en-US" dirty="0" smtClean="0"/>
              <a:t> How long is data kept? When and how is it securely destroyed? Driven by legal and regulatory requirements.</a:t>
            </a:r>
          </a:p>
          <a:p>
            <a:r>
              <a:rPr lang="en-US" b="1" dirty="0" smtClean="0"/>
              <a:t>Data Security &amp; Privacy Policy:</a:t>
            </a:r>
            <a:r>
              <a:rPr lang="en-US" dirty="0" smtClean="0"/>
              <a:t> Rules for data classification (public, internal, confidential, restricted) and handling of Personal Identifiable Information (PII).</a:t>
            </a: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Data Governance vs. Data Management</a:t>
            </a:r>
            <a:endParaRPr lang="en-US" b="1" dirty="0"/>
          </a:p>
        </p:txBody>
      </p:sp>
      <p:sp>
        <p:nvSpPr>
          <p:cNvPr id="3" name="Content Placeholder 2"/>
          <p:cNvSpPr>
            <a:spLocks noGrp="1"/>
          </p:cNvSpPr>
          <p:nvPr>
            <p:ph idx="1"/>
          </p:nvPr>
        </p:nvSpPr>
        <p:spPr/>
        <p:txBody>
          <a:bodyPr/>
          <a:lstStyle/>
          <a:p>
            <a:r>
              <a:rPr lang="en-US" b="1" dirty="0" smtClean="0"/>
              <a:t>This is a critical distinction:</a:t>
            </a:r>
            <a:endParaRPr lang="en-US" dirty="0" smtClean="0"/>
          </a:p>
          <a:p>
            <a:pPr lvl="1"/>
            <a:r>
              <a:rPr lang="en-US" b="1" dirty="0" smtClean="0"/>
              <a:t>Data Governance (Strategy):</a:t>
            </a:r>
            <a:r>
              <a:rPr lang="en-US" dirty="0" smtClean="0"/>
              <a:t> The </a:t>
            </a:r>
            <a:r>
              <a:rPr lang="en-US" i="1" dirty="0" smtClean="0"/>
              <a:t>WHAT</a:t>
            </a:r>
            <a:r>
              <a:rPr lang="en-US" dirty="0" smtClean="0"/>
              <a:t> and </a:t>
            </a:r>
            <a:r>
              <a:rPr lang="en-US" i="1" dirty="0" smtClean="0"/>
              <a:t>WHY</a:t>
            </a:r>
            <a:r>
              <a:rPr lang="en-US" dirty="0" smtClean="0"/>
              <a:t>. The framework of high-level policies, rules, and decision rights. It's about </a:t>
            </a:r>
            <a:r>
              <a:rPr lang="en-US" b="1" dirty="0" smtClean="0"/>
              <a:t>strategy, compliance, and accountability</a:t>
            </a:r>
            <a:r>
              <a:rPr lang="en-US" dirty="0" smtClean="0"/>
              <a:t>.</a:t>
            </a:r>
          </a:p>
          <a:p>
            <a:pPr lvl="1"/>
            <a:r>
              <a:rPr lang="en-US" b="1" dirty="0" smtClean="0"/>
              <a:t>Data Management (Tactics):</a:t>
            </a:r>
            <a:r>
              <a:rPr lang="en-US" dirty="0" smtClean="0"/>
              <a:t> The </a:t>
            </a:r>
            <a:r>
              <a:rPr lang="en-US" i="1" dirty="0" smtClean="0"/>
              <a:t>HOW</a:t>
            </a:r>
            <a:r>
              <a:rPr lang="en-US" dirty="0" smtClean="0"/>
              <a:t>. The technical execution and daily activities (e.g., ETL processes, database tuning, building a data lake). It's about </a:t>
            </a:r>
            <a:r>
              <a:rPr lang="en-US" b="1" dirty="0" smtClean="0"/>
              <a:t>architecture, tools, and processes</a:t>
            </a:r>
            <a:r>
              <a:rPr lang="en-US" dirty="0" smtClean="0"/>
              <a:t>.</a:t>
            </a:r>
          </a:p>
          <a:p>
            <a:r>
              <a:rPr lang="en-US" b="1" dirty="0" smtClean="0"/>
              <a:t>Relationship:</a:t>
            </a:r>
            <a:r>
              <a:rPr lang="en-US" dirty="0" smtClean="0"/>
              <a:t> Governance tells Management </a:t>
            </a:r>
            <a:r>
              <a:rPr lang="en-US" i="1" dirty="0" smtClean="0"/>
              <a:t>what</a:t>
            </a:r>
            <a:r>
              <a:rPr lang="en-US" dirty="0" smtClean="0"/>
              <a:t> to do, and Management does it.</a:t>
            </a:r>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CCPA vs. GDPR: A Governance Challenge</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27700" y="2052925"/>
            <a:ext cx="6711654" cy="4447909"/>
          </a:xfrm>
        </p:spPr>
        <p:txBody>
          <a:bodyPr>
            <a:normAutofit fontScale="92500" lnSpcReduction="20000"/>
          </a:bodyPr>
          <a:lstStyle/>
          <a:p>
            <a:r>
              <a:rPr lang="en-US" b="1" dirty="0" smtClean="0"/>
              <a:t>DPR (EU):</a:t>
            </a:r>
            <a:endParaRPr lang="en-US" dirty="0" smtClean="0"/>
          </a:p>
          <a:p>
            <a:pPr lvl="1"/>
            <a:r>
              <a:rPr lang="en-US" b="1" dirty="0" smtClean="0"/>
              <a:t>Opt-In Model:</a:t>
            </a:r>
            <a:r>
              <a:rPr lang="en-US" dirty="0" smtClean="0"/>
              <a:t> You must get explicit, active consent to process data.</a:t>
            </a:r>
          </a:p>
          <a:p>
            <a:pPr lvl="1"/>
            <a:r>
              <a:rPr lang="en-US" b="1" dirty="0" smtClean="0"/>
              <a:t>Penalties:</a:t>
            </a:r>
            <a:r>
              <a:rPr lang="en-US" dirty="0" smtClean="0"/>
              <a:t> Up to €20 million or 4% of global annual turnover.</a:t>
            </a:r>
          </a:p>
          <a:p>
            <a:pPr lvl="1"/>
            <a:r>
              <a:rPr lang="en-US" b="1" dirty="0" smtClean="0"/>
              <a:t>Scope:</a:t>
            </a:r>
            <a:r>
              <a:rPr lang="en-US" dirty="0" smtClean="0"/>
              <a:t> Applies to any company processing data of EU residents.</a:t>
            </a:r>
          </a:p>
          <a:p>
            <a:r>
              <a:rPr lang="en-US" b="1" dirty="0" smtClean="0"/>
              <a:t>CCPA (California):</a:t>
            </a:r>
            <a:endParaRPr lang="en-US" dirty="0" smtClean="0"/>
          </a:p>
          <a:p>
            <a:pPr lvl="1"/>
            <a:r>
              <a:rPr lang="en-US" b="1" dirty="0" smtClean="0"/>
              <a:t>Opt-Out Model:</a:t>
            </a:r>
            <a:r>
              <a:rPr lang="en-US" dirty="0" smtClean="0"/>
              <a:t> Data can be collected, but users must be able to easily opt-out of its sale.</a:t>
            </a:r>
          </a:p>
          <a:p>
            <a:pPr lvl="1"/>
            <a:r>
              <a:rPr lang="en-US" b="1" dirty="0" smtClean="0"/>
              <a:t>Penalties:</a:t>
            </a:r>
            <a:r>
              <a:rPr lang="en-US" dirty="0" smtClean="0"/>
              <a:t> Lower fixed fines (2,500perunintentionalviolation,2,500</a:t>
            </a:r>
            <a:r>
              <a:rPr lang="en-US" i="1" dirty="0" smtClean="0"/>
              <a:t>perunintentionalviolation</a:t>
            </a:r>
            <a:r>
              <a:rPr lang="en-US" dirty="0" smtClean="0"/>
              <a:t>,7,500 per intentional).</a:t>
            </a:r>
          </a:p>
          <a:p>
            <a:r>
              <a:rPr lang="en-US" b="1" dirty="0" smtClean="0"/>
              <a:t>Governance Implication:</a:t>
            </a:r>
            <a:r>
              <a:rPr lang="en-US" dirty="0" smtClean="0"/>
              <a:t> A global company needs a unified governance program to handle the different rules for different user groups.</a:t>
            </a:r>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Governance Frameworks Comparison</a:t>
            </a:r>
            <a:endParaRPr lang="en-US" b="1" dirty="0">
              <a:effectLst>
                <a:outerShdw blurRad="38100" dist="38100" dir="2700000" algn="tl">
                  <a:srgbClr val="000000">
                    <a:alpha val="43137"/>
                  </a:srgbClr>
                </a:outerShdw>
              </a:effectLst>
            </a:endParaRPr>
          </a:p>
        </p:txBody>
      </p:sp>
      <p:pic>
        <p:nvPicPr>
          <p:cNvPr id="21" name="Content Placeholder 20" descr="Gemini_Generated_Image_6zldxp6zldxp6zld.png"/>
          <p:cNvPicPr>
            <a:picLocks noGrp="1" noChangeAspect="1"/>
          </p:cNvPicPr>
          <p:nvPr>
            <p:ph idx="1"/>
          </p:nvPr>
        </p:nvPicPr>
        <p:blipFill>
          <a:blip r:embed="rId2"/>
          <a:stretch>
            <a:fillRect/>
          </a:stretch>
        </p:blipFill>
        <p:spPr>
          <a:xfrm>
            <a:off x="214282" y="1857364"/>
            <a:ext cx="8715436" cy="4786346"/>
          </a:xfr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Data Governance Summary</a:t>
            </a:r>
            <a:endParaRPr lang="en-US" dirty="0"/>
          </a:p>
        </p:txBody>
      </p:sp>
      <p:sp>
        <p:nvSpPr>
          <p:cNvPr id="3" name="Content Placeholder 2"/>
          <p:cNvSpPr>
            <a:spLocks noGrp="1"/>
          </p:cNvSpPr>
          <p:nvPr>
            <p:ph idx="1"/>
          </p:nvPr>
        </p:nvSpPr>
        <p:spPr/>
        <p:txBody>
          <a:bodyPr/>
          <a:lstStyle/>
          <a:p>
            <a:r>
              <a:rPr lang="en-US" dirty="0" smtClean="0"/>
              <a:t>Data governance is the overall framework (people, processes, tech) for managing data effectively and securely.</a:t>
            </a:r>
          </a:p>
          <a:p>
            <a:r>
              <a:rPr lang="en-US" dirty="0" smtClean="0"/>
              <a:t>Its three pillars are Compliance, Security, and building Trust/Value.</a:t>
            </a:r>
          </a:p>
          <a:p>
            <a:r>
              <a:rPr lang="en-US" dirty="0" smtClean="0"/>
              <a:t>Key roles include Data Owners (accountable) and Data Stewards (hands-on).</a:t>
            </a:r>
          </a:p>
          <a:p>
            <a:r>
              <a:rPr lang="en-US" dirty="0" smtClean="0"/>
              <a:t>Governance is the "what"; Management is the "how".</a:t>
            </a:r>
          </a:p>
          <a:p>
            <a:r>
              <a:rPr lang="en-US" dirty="0" smtClean="0"/>
              <a:t>Laws like GDPR and CCPA are key drivers for strong governance.</a:t>
            </a:r>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14348" y="928670"/>
            <a:ext cx="6620968" cy="2562828"/>
          </a:xfrm>
        </p:spPr>
        <p:txBody>
          <a:bodyPr/>
          <a:lstStyle/>
          <a:p>
            <a:r>
              <a:rPr lang="en-US" b="1" dirty="0" smtClean="0">
                <a:effectLst>
                  <a:outerShdw blurRad="38100" dist="38100" dir="2700000" algn="tl">
                    <a:srgbClr val="000000">
                      <a:alpha val="43137"/>
                    </a:srgbClr>
                  </a:outerShdw>
                </a:effectLst>
              </a:rPr>
              <a:t>Introduction to Data Ethics</a:t>
            </a:r>
            <a:endParaRPr lang="en-US" b="1" dirty="0">
              <a:effectLst>
                <a:outerShdw blurRad="38100" dist="38100" dir="2700000" algn="tl">
                  <a:srgbClr val="000000">
                    <a:alpha val="43137"/>
                  </a:srgbClr>
                </a:outerShdw>
              </a:effectLst>
            </a:endParaRPr>
          </a:p>
        </p:txBody>
      </p:sp>
      <p:sp>
        <p:nvSpPr>
          <p:cNvPr id="5" name="Subtitle 4"/>
          <p:cNvSpPr>
            <a:spLocks noGrp="1"/>
          </p:cNvSpPr>
          <p:nvPr>
            <p:ph type="subTitle" idx="1"/>
          </p:nvPr>
        </p:nvSpPr>
        <p:spPr>
          <a:xfrm>
            <a:off x="866442" y="4071942"/>
            <a:ext cx="6620968" cy="1566858"/>
          </a:xfrm>
        </p:spPr>
        <p:txBody>
          <a:bodyPr>
            <a:normAutofit/>
          </a:bodyPr>
          <a:lstStyle/>
          <a:p>
            <a:r>
              <a:rPr lang="en-US" dirty="0" smtClean="0"/>
              <a:t>Data Ethics</a:t>
            </a:r>
          </a:p>
          <a:p>
            <a:r>
              <a:rPr lang="en-US" dirty="0" smtClean="0"/>
              <a:t>Doing the </a:t>
            </a:r>
            <a:r>
              <a:rPr lang="en-US" i="1" dirty="0" smtClean="0"/>
              <a:t>Right</a:t>
            </a:r>
            <a:r>
              <a:rPr lang="en-US" dirty="0" smtClean="0"/>
              <a:t> Thing With Data, Even When No One is Watching</a:t>
            </a:r>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Agenda for Data Ethics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What is Data Ethics?</a:t>
            </a:r>
          </a:p>
          <a:p>
            <a:r>
              <a:rPr lang="en-US" dirty="0" smtClean="0"/>
              <a:t>The Four Core Principles of Ethical Data Practice</a:t>
            </a:r>
          </a:p>
          <a:p>
            <a:r>
              <a:rPr lang="en-US" dirty="0" smtClean="0"/>
              <a:t>Why Does Data Ethics Matter? (Moral, Legal, Reputational)</a:t>
            </a:r>
          </a:p>
          <a:p>
            <a:r>
              <a:rPr lang="en-US" dirty="0" smtClean="0"/>
              <a:t>Key Ethical Issues: Bias, Consent, and Transparency</a:t>
            </a:r>
          </a:p>
          <a:p>
            <a:r>
              <a:rPr lang="en-US" dirty="0" smtClean="0"/>
              <a:t>From Compliance to a Culture of Ethics</a:t>
            </a:r>
            <a:endParaRPr lang="en-US"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 Defining Data Ethics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27700" y="1571612"/>
            <a:ext cx="6711654" cy="4929221"/>
          </a:xfrm>
        </p:spPr>
        <p:txBody>
          <a:bodyPr/>
          <a:lstStyle/>
          <a:p>
            <a:r>
              <a:rPr lang="en-US" b="1" dirty="0" smtClean="0"/>
              <a:t>Definition:</a:t>
            </a:r>
            <a:r>
              <a:rPr lang="en-US" dirty="0" smtClean="0"/>
              <a:t> The branch of ethics that studies and evaluates moral problems related to data, algorithms, and corresponding practices. It defines the </a:t>
            </a:r>
            <a:r>
              <a:rPr lang="en-US" i="1" dirty="0" smtClean="0"/>
              <a:t>right</a:t>
            </a:r>
            <a:r>
              <a:rPr lang="en-US" dirty="0" smtClean="0"/>
              <a:t> and </a:t>
            </a:r>
            <a:r>
              <a:rPr lang="en-US" i="1" dirty="0" smtClean="0"/>
              <a:t>wrong</a:t>
            </a:r>
            <a:r>
              <a:rPr lang="en-US" dirty="0" smtClean="0"/>
              <a:t> ways to collect, store, analyze, and share data.</a:t>
            </a:r>
          </a:p>
          <a:p>
            <a:r>
              <a:rPr lang="en-US" b="1" dirty="0" smtClean="0"/>
              <a:t>Core Question:</a:t>
            </a:r>
            <a:r>
              <a:rPr lang="en-US" dirty="0" smtClean="0"/>
              <a:t> Not just "Can we do this with data?" but "</a:t>
            </a:r>
            <a:r>
              <a:rPr lang="en-US" b="1" dirty="0" smtClean="0"/>
              <a:t>Should</a:t>
            </a:r>
            <a:r>
              <a:rPr lang="en-US" dirty="0" smtClean="0"/>
              <a:t> we do this with data?"</a:t>
            </a:r>
          </a:p>
          <a:p>
            <a:r>
              <a:rPr lang="en-US" b="1" dirty="0" smtClean="0"/>
              <a:t>It goes beyond legality:</a:t>
            </a:r>
            <a:r>
              <a:rPr lang="en-US" dirty="0" smtClean="0"/>
              <a:t> An action can be legal (e.g., selling </a:t>
            </a:r>
            <a:r>
              <a:rPr lang="en-US" dirty="0" err="1" smtClean="0"/>
              <a:t>anonymized</a:t>
            </a:r>
            <a:r>
              <a:rPr lang="en-US" dirty="0" smtClean="0"/>
              <a:t> user data) but still be ethically questionable.</a:t>
            </a:r>
            <a:endParaRPr lang="en-US"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Four Core Principles of Data Ethics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lnSpcReduction="10000"/>
          </a:bodyPr>
          <a:lstStyle/>
          <a:p>
            <a:r>
              <a:rPr lang="en-US" b="1" dirty="0" smtClean="0"/>
              <a:t>Privacy:</a:t>
            </a:r>
            <a:r>
              <a:rPr lang="en-US" dirty="0" smtClean="0"/>
              <a:t> Individuals have a right to control their personal information. Collection requires informed, freely given, and revocable consent.</a:t>
            </a:r>
          </a:p>
          <a:p>
            <a:r>
              <a:rPr lang="en-US" b="1" dirty="0" smtClean="0"/>
              <a:t>Transparency:</a:t>
            </a:r>
            <a:r>
              <a:rPr lang="en-US" dirty="0" smtClean="0"/>
              <a:t> Be clear and open about what data is being collected, for what purpose, and who will have access to it. No "dark patterns" or hidden clauses.</a:t>
            </a:r>
          </a:p>
          <a:p>
            <a:r>
              <a:rPr lang="en-US" b="1" dirty="0" smtClean="0"/>
              <a:t>Accountability:</a:t>
            </a:r>
            <a:r>
              <a:rPr lang="en-US" dirty="0" smtClean="0"/>
              <a:t> The organization and its people are responsible for their data practices and must be able to demonstrate compliance.</a:t>
            </a:r>
          </a:p>
          <a:p>
            <a:r>
              <a:rPr lang="en-US" b="1" dirty="0" smtClean="0"/>
              <a:t>Fairness:</a:t>
            </a:r>
            <a:r>
              <a:rPr lang="en-US" dirty="0" smtClean="0"/>
              <a:t> Data practices should not create or reinforce bias, lead to discrimination, or produce unjust outcomes for individuals or groups.</a:t>
            </a:r>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The Many Reasons Why Data Ethics Matters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27700" y="1857365"/>
            <a:ext cx="6711654" cy="4786346"/>
          </a:xfrm>
        </p:spPr>
        <p:txBody>
          <a:bodyPr>
            <a:normAutofit fontScale="92500" lnSpcReduction="10000"/>
          </a:bodyPr>
          <a:lstStyle/>
          <a:p>
            <a:r>
              <a:rPr lang="en-US" b="1" dirty="0" smtClean="0"/>
              <a:t>Moral Reasons:</a:t>
            </a:r>
            <a:endParaRPr lang="en-US" dirty="0" smtClean="0"/>
          </a:p>
          <a:p>
            <a:pPr lvl="1"/>
            <a:r>
              <a:rPr lang="en-US" b="1" dirty="0" smtClean="0"/>
              <a:t>Respect for human dignity and autonomy.</a:t>
            </a:r>
            <a:endParaRPr lang="en-US" dirty="0" smtClean="0"/>
          </a:p>
          <a:p>
            <a:pPr lvl="1"/>
            <a:r>
              <a:rPr lang="en-US" b="1" dirty="0" smtClean="0"/>
              <a:t>Preventing harm:</a:t>
            </a:r>
            <a:r>
              <a:rPr lang="en-US" dirty="0" smtClean="0"/>
              <a:t> Avoiding outcomes like financial discrimination or social profiling.</a:t>
            </a:r>
          </a:p>
          <a:p>
            <a:pPr lvl="1"/>
            <a:r>
              <a:rPr lang="en-US" b="1" dirty="0" smtClean="0"/>
              <a:t>Promoting fairness and justice.</a:t>
            </a:r>
            <a:endParaRPr lang="en-US" dirty="0" smtClean="0"/>
          </a:p>
          <a:p>
            <a:r>
              <a:rPr lang="en-US" b="1" dirty="0" smtClean="0"/>
              <a:t>Legal Reasons:</a:t>
            </a:r>
            <a:endParaRPr lang="en-US" dirty="0" smtClean="0"/>
          </a:p>
          <a:p>
            <a:pPr lvl="1"/>
            <a:r>
              <a:rPr lang="en-US" dirty="0" smtClean="0"/>
              <a:t>Adhering to laws like GDPR is a baseline. Ethics helps you go beyond mere compliance.</a:t>
            </a:r>
          </a:p>
          <a:p>
            <a:pPr lvl="1"/>
            <a:r>
              <a:rPr lang="en-US" dirty="0" smtClean="0"/>
              <a:t>Reduces risk of future regulations and lawsuits.</a:t>
            </a:r>
          </a:p>
          <a:p>
            <a:r>
              <a:rPr lang="en-US" b="1" dirty="0" smtClean="0"/>
              <a:t>Reputational &amp; Business Reasons:</a:t>
            </a:r>
            <a:endParaRPr lang="en-US" dirty="0" smtClean="0"/>
          </a:p>
          <a:p>
            <a:pPr lvl="1"/>
            <a:r>
              <a:rPr lang="en-US" b="1" dirty="0" smtClean="0"/>
              <a:t>Builds trust</a:t>
            </a:r>
            <a:r>
              <a:rPr lang="en-US" dirty="0" smtClean="0"/>
              <a:t> with customers, partners, and the public. Trust is a major competitive asset.</a:t>
            </a:r>
          </a:p>
          <a:p>
            <a:pPr lvl="1"/>
            <a:r>
              <a:rPr lang="en-US" dirty="0" smtClean="0"/>
              <a:t>A strong ethical reputation differentiates you from less scrupulous competitors.</a:t>
            </a:r>
            <a:endParaRPr 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Key Ethical Issue #1: Bias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a:bodyPr>
          <a:lstStyle/>
          <a:p>
            <a:r>
              <a:rPr lang="en-US" b="1" dirty="0" smtClean="0"/>
              <a:t>The Problem:</a:t>
            </a:r>
            <a:r>
              <a:rPr lang="en-US" dirty="0" smtClean="0"/>
              <a:t> Data and algorithms are not neutral. They reflect the biases of the humans who created them and the historical data they are trained on.</a:t>
            </a:r>
          </a:p>
          <a:p>
            <a:r>
              <a:rPr lang="en-US" b="1" dirty="0" smtClean="0"/>
              <a:t>Examples:</a:t>
            </a:r>
            <a:endParaRPr lang="en-US" dirty="0" smtClean="0"/>
          </a:p>
          <a:p>
            <a:pPr lvl="1"/>
            <a:r>
              <a:rPr lang="en-US" dirty="0" smtClean="0"/>
              <a:t>A hiring algorithm trained on past successful employees (who were all men) penalizes female candidates.</a:t>
            </a:r>
          </a:p>
          <a:p>
            <a:pPr lvl="1"/>
            <a:r>
              <a:rPr lang="en-US" dirty="0" smtClean="0"/>
              <a:t>A credit scoring model uses zip codes as a proxy, inadvertently discriminating against minority neighborhoods.</a:t>
            </a:r>
          </a:p>
          <a:p>
            <a:r>
              <a:rPr lang="en-US" b="1" dirty="0" smtClean="0"/>
              <a:t>Ethical Practice:</a:t>
            </a:r>
            <a:r>
              <a:rPr lang="en-US" dirty="0" smtClean="0"/>
              <a:t> Actively audit data and models for bias. Use diverse teams to build and test systems.</a:t>
            </a:r>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Key Ethical Issue #2: Informed Consent</a:t>
            </a:r>
            <a:r>
              <a:rPr lang="en-US" dirty="0" smtClean="0"/>
              <a:t/>
            </a:r>
            <a:br>
              <a:rPr lang="en-US" dirty="0" smtClean="0"/>
            </a:br>
            <a:endParaRPr lang="en-US" dirty="0"/>
          </a:p>
        </p:txBody>
      </p:sp>
      <p:sp>
        <p:nvSpPr>
          <p:cNvPr id="3" name="Content Placeholder 2"/>
          <p:cNvSpPr>
            <a:spLocks noGrp="1"/>
          </p:cNvSpPr>
          <p:nvPr>
            <p:ph idx="1"/>
          </p:nvPr>
        </p:nvSpPr>
        <p:spPr>
          <a:xfrm>
            <a:off x="827700" y="1857365"/>
            <a:ext cx="6711654" cy="4786346"/>
          </a:xfrm>
        </p:spPr>
        <p:txBody>
          <a:bodyPr/>
          <a:lstStyle/>
          <a:p>
            <a:r>
              <a:rPr lang="en-US" b="1" dirty="0" smtClean="0"/>
              <a:t>The Problem:</a:t>
            </a:r>
            <a:r>
              <a:rPr lang="en-US" dirty="0" smtClean="0"/>
              <a:t> Consent is often not real consent. "I agree" buttons are hidden behind long, unreadable legal text. Users feel coerced (e.g., must accept cookies to use a site).</a:t>
            </a:r>
          </a:p>
          <a:p>
            <a:r>
              <a:rPr lang="en-US" b="1" dirty="0" smtClean="0"/>
              <a:t>Ethical Consent (from GDPR principles):</a:t>
            </a:r>
            <a:endParaRPr lang="en-US" dirty="0" smtClean="0"/>
          </a:p>
          <a:p>
            <a:pPr lvl="1"/>
            <a:r>
              <a:rPr lang="en-US" b="1" dirty="0" smtClean="0"/>
              <a:t>Freely Given:</a:t>
            </a:r>
            <a:r>
              <a:rPr lang="en-US" dirty="0" smtClean="0"/>
              <a:t> No coercion or penalty for refusal.</a:t>
            </a:r>
          </a:p>
          <a:p>
            <a:pPr lvl="1"/>
            <a:r>
              <a:rPr lang="en-US" b="1" dirty="0" smtClean="0"/>
              <a:t>Specific:</a:t>
            </a:r>
            <a:r>
              <a:rPr lang="en-US" dirty="0" smtClean="0"/>
              <a:t> Separate consent for different purposes (e.g., analytics vs. marketing).</a:t>
            </a:r>
          </a:p>
          <a:p>
            <a:pPr lvl="1"/>
            <a:r>
              <a:rPr lang="en-US" b="1" dirty="0" smtClean="0"/>
              <a:t>Informed:</a:t>
            </a:r>
            <a:r>
              <a:rPr lang="en-US" dirty="0" smtClean="0"/>
              <a:t> Plain, clear language about </a:t>
            </a:r>
            <a:r>
              <a:rPr lang="en-US" i="1" dirty="0" smtClean="0"/>
              <a:t>exactly</a:t>
            </a:r>
            <a:r>
              <a:rPr lang="en-US" dirty="0" smtClean="0"/>
              <a:t> what data will be used.</a:t>
            </a:r>
          </a:p>
          <a:p>
            <a:pPr lvl="1"/>
            <a:r>
              <a:rPr lang="en-US" b="1" dirty="0" smtClean="0"/>
              <a:t>Revocable:</a:t>
            </a:r>
            <a:r>
              <a:rPr lang="en-US" dirty="0" smtClean="0"/>
              <a:t> Easy for the user to withdraw consent at any time.</a:t>
            </a:r>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From Compliance to a Culture of Ethics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10000"/>
          </a:bodyPr>
          <a:lstStyle/>
          <a:p>
            <a:r>
              <a:rPr lang="en-US" b="1" dirty="0" smtClean="0"/>
              <a:t>Compliance Mindset:</a:t>
            </a:r>
            <a:r>
              <a:rPr lang="en-US" dirty="0" smtClean="0"/>
              <a:t> "What is the minimum we need to do to avoid a fine?" (Checklist-driven, reactive, fear-based).</a:t>
            </a:r>
          </a:p>
          <a:p>
            <a:r>
              <a:rPr lang="en-US" b="1" dirty="0" smtClean="0"/>
              <a:t>Ethical Culture:</a:t>
            </a:r>
            <a:r>
              <a:rPr lang="en-US" dirty="0" smtClean="0"/>
              <a:t> "What is the right thing to do for our users and society?" (Value-driven, proactive, principle-based).</a:t>
            </a:r>
          </a:p>
          <a:p>
            <a:r>
              <a:rPr lang="en-US" b="1" dirty="0" smtClean="0"/>
              <a:t>How to Build an Ethical Culture:</a:t>
            </a:r>
            <a:endParaRPr lang="en-US" dirty="0" smtClean="0"/>
          </a:p>
          <a:p>
            <a:pPr lvl="1"/>
            <a:r>
              <a:rPr lang="en-US" dirty="0" smtClean="0"/>
              <a:t>Get buy-in and modeling from leadership.</a:t>
            </a:r>
          </a:p>
          <a:p>
            <a:pPr lvl="1"/>
            <a:r>
              <a:rPr lang="en-US" dirty="0" smtClean="0"/>
              <a:t>Provide regular ethics training for all employees who handle data.</a:t>
            </a:r>
          </a:p>
          <a:p>
            <a:pPr lvl="1"/>
            <a:r>
              <a:rPr lang="en-US" dirty="0" smtClean="0"/>
              <a:t>Create safe channels for reporting ethical concerns.</a:t>
            </a:r>
          </a:p>
          <a:p>
            <a:pPr lvl="1"/>
            <a:r>
              <a:rPr lang="en-US" dirty="0" smtClean="0"/>
              <a:t>Make "privacy by design" and "ethics by design" part of every new project's requirements.</a:t>
            </a:r>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chemeClr val="tx1"/>
                </a:solidFill>
                <a:effectLst>
                  <a:outerShdw blurRad="38100" dist="38100" dir="2700000" algn="tl">
                    <a:srgbClr val="000000">
                      <a:alpha val="43137"/>
                    </a:srgbClr>
                  </a:outerShdw>
                </a:effectLst>
                <a:latin typeface="quote-cjk-patch"/>
              </a:rPr>
              <a:t>Summary of Data Ethics</a:t>
            </a:r>
            <a:endParaRPr lang="en-US" dirty="0">
              <a:solidFill>
                <a:schemeClr val="tx1"/>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Data ethics is the moral framework for handling data. It asks "Should we?" not just "Can we?".</a:t>
            </a:r>
          </a:p>
          <a:p>
            <a:r>
              <a:rPr lang="en-US" dirty="0" smtClean="0"/>
              <a:t>The core principles are Privacy, Transparency, Accountability, and Fairness.</a:t>
            </a:r>
          </a:p>
          <a:p>
            <a:r>
              <a:rPr lang="en-US" dirty="0" smtClean="0"/>
              <a:t>Ethics is critical for preventing harm, building trust, and meeting your moral obligations.</a:t>
            </a:r>
          </a:p>
          <a:p>
            <a:r>
              <a:rPr lang="en-US" dirty="0" smtClean="0"/>
              <a:t>A key goal is to move your organization from a "tick-box" compliance mindset to a true "culture of ethics."</a:t>
            </a:r>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effectLst>
                  <a:outerShdw blurRad="38100" dist="38100" dir="2700000" algn="tl">
                    <a:srgbClr val="000000">
                      <a:alpha val="43137"/>
                    </a:srgbClr>
                  </a:outerShdw>
                </a:effectLst>
              </a:rPr>
              <a:t>Final Summary &amp; Conclusion</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27700" y="2052925"/>
            <a:ext cx="6711654" cy="4305033"/>
          </a:xfrm>
        </p:spPr>
        <p:txBody>
          <a:bodyPr>
            <a:normAutofit fontScale="85000" lnSpcReduction="10000"/>
          </a:bodyPr>
          <a:lstStyle/>
          <a:p>
            <a:r>
              <a:rPr lang="en-US" b="1" dirty="0" smtClean="0"/>
              <a:t>IT &amp; Business Strategy are fused.</a:t>
            </a:r>
            <a:r>
              <a:rPr lang="en-US" dirty="0" smtClean="0"/>
              <a:t> You cannot succeed in business today without an IT strategy that directly supports business goals.</a:t>
            </a:r>
          </a:p>
          <a:p>
            <a:r>
              <a:rPr lang="en-US" b="1" dirty="0" smtClean="0"/>
              <a:t>Data is a critical asset.</a:t>
            </a:r>
            <a:r>
              <a:rPr lang="en-US" dirty="0" smtClean="0"/>
              <a:t> Understanding its types, lifecycle, and the difference between integrity and quality is fundamental.</a:t>
            </a:r>
          </a:p>
          <a:p>
            <a:r>
              <a:rPr lang="en-US" b="1" dirty="0" smtClean="0"/>
              <a:t>The Business Analyst is the bridge.</a:t>
            </a:r>
            <a:r>
              <a:rPr lang="en-US" dirty="0" smtClean="0"/>
              <a:t> They translate business needs into technical actions and drive value.</a:t>
            </a:r>
          </a:p>
          <a:p>
            <a:r>
              <a:rPr lang="en-US" b="1" dirty="0" smtClean="0"/>
              <a:t>Data-Driven Decision Making is a core competency.</a:t>
            </a:r>
            <a:r>
              <a:rPr lang="en-US" dirty="0" smtClean="0"/>
              <a:t> It replaces gut feeling with evidence, and you must avoid built-in biases like confirmation bias.</a:t>
            </a:r>
          </a:p>
          <a:p>
            <a:r>
              <a:rPr lang="en-US" b="1" dirty="0" smtClean="0"/>
              <a:t>Governance &amp; Ethics are not barriers, but enablers.</a:t>
            </a:r>
            <a:r>
              <a:rPr lang="en-US" dirty="0" smtClean="0"/>
              <a:t> A strong governance framework mitigates risk and builds trust. An ethical culture is a competitive advantage.</a:t>
            </a:r>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b="1" dirty="0" smtClean="0"/>
              <a:t>The Future Belongs to the Curious.</a:t>
            </a:r>
            <a:endParaRPr lang="en-US" b="1" dirty="0"/>
          </a:p>
        </p:txBody>
      </p:sp>
      <p:sp>
        <p:nvSpPr>
          <p:cNvPr id="5" name="Subtitle 4"/>
          <p:cNvSpPr>
            <a:spLocks noGrp="1"/>
          </p:cNvSpPr>
          <p:nvPr>
            <p:ph type="subTitle" idx="1"/>
          </p:nvPr>
        </p:nvSpPr>
        <p:spPr/>
        <p:txBody>
          <a:bodyPr/>
          <a:lstStyle/>
          <a:p>
            <a:r>
              <a:rPr lang="en-US" b="1" dirty="0" smtClean="0"/>
              <a:t>In a world full of data, be the leader who turns it into wisdom.</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
  <TotalTime>323</TotalTime>
  <Words>2216</Words>
  <Application>Microsoft Office PowerPoint</Application>
  <PresentationFormat>On-screen Show (4:3)</PresentationFormat>
  <Paragraphs>551</Paragraphs>
  <Slides>107</Slides>
  <Notes>0</Notes>
  <HiddenSlides>0</HiddenSlides>
  <MMClips>0</MMClips>
  <ScaleCrop>false</ScaleCrop>
  <HeadingPairs>
    <vt:vector size="4" baseType="variant">
      <vt:variant>
        <vt:lpstr>Theme</vt:lpstr>
      </vt:variant>
      <vt:variant>
        <vt:i4>1</vt:i4>
      </vt:variant>
      <vt:variant>
        <vt:lpstr>Slide Titles</vt:lpstr>
      </vt:variant>
      <vt:variant>
        <vt:i4>107</vt:i4>
      </vt:variant>
    </vt:vector>
  </HeadingPairs>
  <TitlesOfParts>
    <vt:vector size="108" baseType="lpstr">
      <vt:lpstr>Ion</vt:lpstr>
      <vt:lpstr>Information Technology</vt:lpstr>
      <vt:lpstr>Agenda For Information Technology</vt:lpstr>
      <vt:lpstr>What is Information Technology (IT)?</vt:lpstr>
      <vt:lpstr>Why is IT Important for business? </vt:lpstr>
      <vt:lpstr> The Role of IT in Strategic Planning  </vt:lpstr>
      <vt:lpstr>Core IT Components: Hardware</vt:lpstr>
      <vt:lpstr>Core IT Components: Software</vt:lpstr>
      <vt:lpstr>Core IT Function #1: IT Governance</vt:lpstr>
      <vt:lpstr>Core IT Function #2: IT Operations (ITOM)</vt:lpstr>
      <vt:lpstr>Core IT Function #3:   Cybersecurity &amp; Data Management</vt:lpstr>
      <vt:lpstr>Core IT Function #4: Data Backup &amp; Recovery</vt:lpstr>
      <vt:lpstr>The Link Between Business &amp; IT Strategy  </vt:lpstr>
      <vt:lpstr>Data Types, Sources, and Lifecycle</vt:lpstr>
      <vt:lpstr>Data Types, Sources, and Lifecycle Agenda </vt:lpstr>
      <vt:lpstr>Data Type #1: Structured Data</vt:lpstr>
      <vt:lpstr>Data Type #2: Unstructured Data</vt:lpstr>
      <vt:lpstr>Data Type #3: Semi-structured Data</vt:lpstr>
      <vt:lpstr> Sources of Data: Internal vs. External</vt:lpstr>
      <vt:lpstr>What is Data Collection?</vt:lpstr>
      <vt:lpstr>Primary vs. Secondary Data Collection</vt:lpstr>
      <vt:lpstr>Introduction to Data Lifecycle Management (DLM)</vt:lpstr>
      <vt:lpstr> Stage 1-2: Create &amp; Store</vt:lpstr>
      <vt:lpstr> Stage 3-4: Use &amp; Share</vt:lpstr>
      <vt:lpstr> Archive &amp; Destroy</vt:lpstr>
      <vt:lpstr>Data Integrity vs. Data Quality</vt:lpstr>
      <vt:lpstr>Data Lifecycle Management Summary</vt:lpstr>
      <vt:lpstr>Key Takeaway for Data Management</vt:lpstr>
      <vt:lpstr> Summary of DLM</vt:lpstr>
      <vt:lpstr>What is Enterprise Resource Planning (ERP)</vt:lpstr>
      <vt:lpstr> What is ERP?</vt:lpstr>
      <vt:lpstr>Key Features of ERP Systems</vt:lpstr>
      <vt:lpstr>Core Modules in ERP</vt:lpstr>
      <vt:lpstr>How ERP Works – Centralized Database</vt:lpstr>
      <vt:lpstr>How ERP Works – Integration and Automation</vt:lpstr>
      <vt:lpstr>Top Benefits of ERP </vt:lpstr>
      <vt:lpstr>Popular ERP Software</vt:lpstr>
      <vt:lpstr>ERP Security and Access Control </vt:lpstr>
      <vt:lpstr>Topic: ERP vs CRM – Key Differences</vt:lpstr>
      <vt:lpstr>Transition – From ERP to Data-Driven Decisions </vt:lpstr>
      <vt:lpstr> Topic: IT vs Computer Science </vt:lpstr>
      <vt:lpstr> IT vs. Computer Science: What's the Difference?</vt:lpstr>
      <vt:lpstr>Networking Types and Devices</vt:lpstr>
      <vt:lpstr>Cloud Computing (IaaS, PaaS, SaaS) </vt:lpstr>
      <vt:lpstr>Applications of IT in Business</vt:lpstr>
      <vt:lpstr>IT in Education and Society </vt:lpstr>
      <vt:lpstr>Database Management Systems (DBMS) and SQL </vt:lpstr>
      <vt:lpstr>Waterfall Methodology</vt:lpstr>
      <vt:lpstr>Agile Methodology: Iterative and Flexible</vt:lpstr>
      <vt:lpstr>Waterfall vs Agile – Key Differences </vt:lpstr>
      <vt:lpstr>When to Use Waterfall</vt:lpstr>
      <vt:lpstr>When to Use Agile</vt:lpstr>
      <vt:lpstr>What is Stakeholder Management?</vt:lpstr>
      <vt:lpstr>What is Stakeholder Management?</vt:lpstr>
      <vt:lpstr>Benefits of Stakeholder Management</vt:lpstr>
      <vt:lpstr>BUSINESS STRATEGY &amp; IT ALIGNMENT </vt:lpstr>
      <vt:lpstr>Introduction to the Business Analyst (BA) Role  </vt:lpstr>
      <vt:lpstr>Agenda for Introduction to the Business Analyst (BA) Role  </vt:lpstr>
      <vt:lpstr>Defining the Business Analyst Role</vt:lpstr>
      <vt:lpstr>The BA as a "Bridge</vt:lpstr>
      <vt:lpstr> Key Responsibility #1: Elicitation</vt:lpstr>
      <vt:lpstr>Key Responsibility #2: Analysis &amp; Documentation</vt:lpstr>
      <vt:lpstr>Key Responsibility #3: Solution Assessment &amp; Validation</vt:lpstr>
      <vt:lpstr>Core Competencies of a Great BA</vt:lpstr>
      <vt:lpstr>Why is Information Critical for a BA?</vt:lpstr>
      <vt:lpstr>The BA and Decision-Making</vt:lpstr>
      <vt:lpstr>Summary of BA</vt:lpstr>
      <vt:lpstr> Overview of Data-Driven Decision Making (DDDM)</vt:lpstr>
      <vt:lpstr>Agenda for DDDM</vt:lpstr>
      <vt:lpstr>Defining Data-Driven Decision Making</vt:lpstr>
      <vt:lpstr>Why is DDDM Essential Now?</vt:lpstr>
      <vt:lpstr>The 5-Step DDDM Process</vt:lpstr>
      <vt:lpstr>The Core Philosophy of DDDM</vt:lpstr>
      <vt:lpstr>The Immense Benefits of DDDM</vt:lpstr>
      <vt:lpstr>Real-World Example: Scenario Analysis</vt:lpstr>
      <vt:lpstr>Major Pitfall #1: Data Confirmation Bias</vt:lpstr>
      <vt:lpstr>Major Pitfall #2: Correlation vs. Causation</vt:lpstr>
      <vt:lpstr>Summary of DDDM</vt:lpstr>
      <vt:lpstr>Real-Life Case Discussions</vt:lpstr>
      <vt:lpstr>Agenda for Real-Life Case Discussions </vt:lpstr>
      <vt:lpstr>The Value of Real-Life Cases</vt:lpstr>
      <vt:lpstr>Case 1: Netflix – A Master of Data-Driven Decisions</vt:lpstr>
      <vt:lpstr>Case 1: Analysis &amp; Result for Netflix</vt:lpstr>
      <vt:lpstr>Case 2: Domino's Pizza – Solving with Data &amp; IT</vt:lpstr>
      <vt:lpstr>Case 2: Analysis &amp; Result for Domino's </vt:lpstr>
      <vt:lpstr>Real-Life Case Discussions : Discussion &amp; Takeaways</vt:lpstr>
      <vt:lpstr>Introduction to Data Governance </vt:lpstr>
      <vt:lpstr>Agenda for Introduction to Data Governance</vt:lpstr>
      <vt:lpstr>Defining Data Governance </vt:lpstr>
      <vt:lpstr>Why is Data Governance Essential? </vt:lpstr>
      <vt:lpstr>The Three Core Components of Governance</vt:lpstr>
      <vt:lpstr>Key Roles in Data Governance</vt:lpstr>
      <vt:lpstr>The Core Policies of Data Governance</vt:lpstr>
      <vt:lpstr>Data Governance vs. Data Management</vt:lpstr>
      <vt:lpstr>CCPA vs. GDPR: A Governance Challenge</vt:lpstr>
      <vt:lpstr>Governance Frameworks Comparison</vt:lpstr>
      <vt:lpstr>Data Governance Summary</vt:lpstr>
      <vt:lpstr>Introduction to Data Ethics</vt:lpstr>
      <vt:lpstr>Agenda for Data Ethics</vt:lpstr>
      <vt:lpstr> Defining Data Ethics</vt:lpstr>
      <vt:lpstr>Four Core Principles of Data Ethics</vt:lpstr>
      <vt:lpstr>The Many Reasons Why Data Ethics Matters</vt:lpstr>
      <vt:lpstr>Key Ethical Issue #1: Bias</vt:lpstr>
      <vt:lpstr>Key Ethical Issue #2: Informed Consent </vt:lpstr>
      <vt:lpstr>From Compliance to a Culture of Ethics</vt:lpstr>
      <vt:lpstr>Summary of Data Ethics</vt:lpstr>
      <vt:lpstr>Final Summary &amp; Conclusion</vt:lpstr>
      <vt:lpstr>The Future Belongs to the Curious.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Information Technology (IT): Fundamentals &amp; Core Concepts</dc:title>
  <dc:creator>BIKI</dc:creator>
  <cp:lastModifiedBy>BIKI</cp:lastModifiedBy>
  <cp:revision>45</cp:revision>
  <dcterms:created xsi:type="dcterms:W3CDTF">2026-04-30T11:26:06Z</dcterms:created>
  <dcterms:modified xsi:type="dcterms:W3CDTF">2026-05-05T15:36:55Z</dcterms:modified>
</cp:coreProperties>
</file>